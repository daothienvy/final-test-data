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097280"/>
            <a:ext cx="3291840" cy="4114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59E0B"/>
                </a:solidFill>
              </a:defRPr>
            </a:pPr>
            <a:r>
              <a:t>★ KHÓA LUẬN TỐT NGHIỆP DATA ANALYTICS</a:t>
            </a:r>
          </a:p>
        </p:txBody>
      </p:sp>
      <p:sp>
        <p:nvSpPr>
          <p:cNvPr id="5" name="TextBox 4"/>
          <p:cNvSpPr txBox="1"/>
          <p:nvPr/>
        </p:nvSpPr>
        <p:spPr>
          <a:xfrm>
            <a:off x="1097280" y="1737360"/>
            <a:ext cx="10058400" cy="2560320"/>
          </a:xfrm>
          <a:prstGeom prst="rect">
            <a:avLst/>
          </a:prstGeom>
          <a:noFill/>
        </p:spPr>
        <p:txBody>
          <a:bodyPr wrap="square">
            <a:spAutoFit/>
          </a:bodyPr>
          <a:lstStyle/>
          <a:p>
            <a:pPr>
              <a:spcAft>
                <a:spcPts val="1400"/>
              </a:spcAft>
              <a:defRPr sz="2800" b="1">
                <a:solidFill>
                  <a:srgbClr val="FFFFFF"/>
                </a:solidFill>
              </a:defRPr>
            </a:pPr>
            <a:r>
              <a:t>PHÂN TÍCH HIỆU QUẢ KINH DOANH THƯƠNG MẠI ĐIỆN TỬ</a:t>
            </a:r>
            <a:br/>
            <a:r>
              <a:t>VÀ VẬN HÀNH CHUỖI CUNG ỨNG CHẶNG CUỐI</a:t>
            </a:r>
          </a:p>
          <a:p>
            <a:pPr>
              <a:defRPr sz="1300">
                <a:solidFill>
                  <a:srgbClr val="94A3B8"/>
                </a:solidFill>
              </a:defRPr>
            </a:pPr>
            <a:r>
              <a:t>Quy trình Thực thi Toàn diện: EDA Data Cleansing, Mô hình Star Schema, Phân khúc RFM Khách hàng,</a:t>
            </a:r>
            <a:br/>
            <a:r>
              <a:t>Xây dựng Dashboard Power BI Đa chiều &amp; Hệ thống Báo cáo Chiến lược Điều hành</a:t>
            </a:r>
          </a:p>
        </p:txBody>
      </p:sp>
      <p:sp>
        <p:nvSpPr>
          <p:cNvPr id="6" name="Rounded Rectangle 5"/>
          <p:cNvSpPr/>
          <p:nvPr/>
        </p:nvSpPr>
        <p:spPr>
          <a:xfrm>
            <a:off x="1097280" y="4389120"/>
            <a:ext cx="9997135" cy="1828800"/>
          </a:xfrm>
          <a:prstGeom prst="roundRect">
            <a:avLst/>
          </a:prstGeom>
          <a:solidFill>
            <a:srgbClr val="0F1E37"/>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572000"/>
            <a:ext cx="9418320" cy="1463040"/>
          </a:xfrm>
          <a:prstGeom prst="rect">
            <a:avLst/>
          </a:prstGeom>
          <a:noFill/>
        </p:spPr>
        <p:txBody>
          <a:bodyPr wrap="square">
            <a:spAutoFit/>
          </a:bodyPr>
          <a:lstStyle/>
          <a:p>
            <a:pPr>
              <a:spcAft>
                <a:spcPts val="1000"/>
              </a:spcAft>
              <a:defRPr sz="1150" b="1">
                <a:solidFill>
                  <a:srgbClr val="FFFFFF"/>
                </a:solidFill>
              </a:defRPr>
            </a:pPr>
            <a:r>
              <a:t>👤 Học viên thực hiện: Đào Thiện Vỹ                 🏷️ Mã học viên: DA-FINAL-2026                 📅 Thời gian: Tháng 10/2026</a:t>
            </a:r>
          </a:p>
          <a:p>
            <a:pPr>
              <a:spcAft>
                <a:spcPts val="800"/>
              </a:spcAft>
              <a:defRPr sz="1100">
                <a:solidFill>
                  <a:srgbClr val="CBD5E1"/>
                </a:solidFill>
              </a:defRPr>
            </a:pPr>
            <a:r>
              <a:t>📊 Tập dữ liệu thực nghiệm: 89,316 Đơn hàng thực tế giai đoạn 2016 - 2018 | Star Schema Fact &amp; Dimensions</a:t>
            </a:r>
          </a:p>
          <a:p>
            <a:pPr>
              <a:defRPr sz="1100" b="1">
                <a:solidFill>
                  <a:srgbClr val="10B981"/>
                </a:solidFill>
              </a:defRPr>
            </a:pPr>
            <a:r>
              <a:t>🌐 Live Interactive Dashboard: https://daothienvy.github.io/final-test-Data/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777240"/>
          </a:xfrm>
          <a:prstGeom prst="rect">
            <a:avLst/>
          </a:prstGeom>
          <a:noFill/>
        </p:spPr>
        <p:txBody>
          <a:bodyPr wrap="square" lIns="0" tIns="0" rIns="0" bIns="0">
            <a:spAutoFit/>
          </a:bodyPr>
          <a:lstStyle/>
          <a:p>
            <a:pPr>
              <a:defRPr sz="950" b="1">
                <a:solidFill>
                  <a:srgbClr val="F59E0B"/>
                </a:solidFill>
              </a:defRPr>
            </a:pPr>
            <a:r>
              <a:t>PHẦN 1: MỤC TIÊU CHIẾN LƯỢC</a:t>
            </a:r>
          </a:p>
          <a:p>
            <a:pPr>
              <a:defRPr sz="1700" b="1">
                <a:solidFill>
                  <a:srgbClr val="FFFFFF"/>
                </a:solidFill>
              </a:defRPr>
            </a:pPr>
            <a:r>
              <a:t>TỔNG QUAN QUẢN TRỊ &amp; BỨC TRANH VẬN HÀNH TOÀN CẢNH</a:t>
            </a:r>
          </a:p>
        </p:txBody>
      </p:sp>
      <p:sp>
        <p:nvSpPr>
          <p:cNvPr id="5" name="Rounded Rectangle 4"/>
          <p:cNvSpPr/>
          <p:nvPr/>
        </p:nvSpPr>
        <p:spPr>
          <a:xfrm>
            <a:off x="731520" y="1234440"/>
            <a:ext cx="10728655" cy="91440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25880"/>
            <a:ext cx="10332720" cy="731520"/>
          </a:xfrm>
          <a:prstGeom prst="rect">
            <a:avLst/>
          </a:prstGeom>
          <a:noFill/>
        </p:spPr>
        <p:txBody>
          <a:bodyPr wrap="square">
            <a:spAutoFit/>
          </a:bodyPr>
          <a:lstStyle/>
          <a:p>
            <a:pPr>
              <a:defRPr sz="1050" b="1">
                <a:solidFill>
                  <a:srgbClr val="1E3A8A"/>
                </a:solidFill>
              </a:defRPr>
            </a:pPr>
            <a:r>
              <a:t>🎯 CÂU HỎI QUẢN TRỊ TRUNG TÂM (CORE BUSINESS QUESTION):</a:t>
            </a:r>
          </a:p>
          <a:p>
            <a:pPr>
              <a:defRPr sz="1200" b="1">
                <a:solidFill>
                  <a:srgbClr val="0A192F"/>
                </a:solidFill>
              </a:defRPr>
            </a:pPr>
            <a:r>
              <a:t>“Làm sao để Doanh nghiệp Thương mại Điện tử tối ưu hóa Doanh thu ròng, nâng cao Tỷ lệ Giữ chân Khách hàng và cắt giảm Chi phí Vận hành Logistics chặng cuối?”</a:t>
            </a:r>
          </a:p>
        </p:txBody>
      </p:sp>
      <p:sp>
        <p:nvSpPr>
          <p:cNvPr id="7" name="Rounded Rectangle 6"/>
          <p:cNvSpPr/>
          <p:nvPr/>
        </p:nvSpPr>
        <p:spPr>
          <a:xfrm>
            <a:off x="731520" y="2331720"/>
            <a:ext cx="25146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331720"/>
            <a:ext cx="251460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2148840" cy="1828800"/>
          </a:xfrm>
          <a:prstGeom prst="rect">
            <a:avLst/>
          </a:prstGeom>
          <a:noFill/>
        </p:spPr>
        <p:txBody>
          <a:bodyPr wrap="square">
            <a:spAutoFit/>
          </a:bodyPr>
          <a:lstStyle/>
          <a:p>
            <a:pPr>
              <a:spcAft>
                <a:spcPts val="800"/>
              </a:spcAft>
              <a:defRPr sz="900" b="1">
                <a:solidFill>
                  <a:srgbClr val="64748B"/>
                </a:solidFill>
              </a:defRPr>
            </a:pPr>
            <a:r>
              <a:t>TỔNG DOANH THU (REVENUE)</a:t>
            </a:r>
          </a:p>
          <a:p>
            <a:pPr>
              <a:spcAft>
                <a:spcPts val="600"/>
              </a:spcAft>
              <a:defRPr sz="2400" b="1">
                <a:solidFill>
                  <a:srgbClr val="0A192F"/>
                </a:solidFill>
              </a:defRPr>
            </a:pPr>
            <a:r>
              <a:t>$30.45M</a:t>
            </a:r>
          </a:p>
          <a:p>
            <a:pPr>
              <a:spcAft>
                <a:spcPts val="400"/>
              </a:spcAft>
              <a:defRPr sz="950">
                <a:solidFill>
                  <a:srgbClr val="0F172A"/>
                </a:solidFill>
              </a:defRPr>
            </a:pPr>
            <a:r>
              <a:t>89,316 đơn hàng</a:t>
            </a:r>
          </a:p>
          <a:p>
            <a:pPr>
              <a:defRPr sz="900" b="1">
                <a:solidFill>
                  <a:srgbClr val="10B981"/>
                </a:solidFill>
              </a:defRPr>
            </a:pPr>
            <a:r>
              <a:t>▲ +24.8% YoY tăng trưởng</a:t>
            </a:r>
          </a:p>
        </p:txBody>
      </p:sp>
      <p:sp>
        <p:nvSpPr>
          <p:cNvPr id="10" name="Rounded Rectangle 9"/>
          <p:cNvSpPr/>
          <p:nvPr/>
        </p:nvSpPr>
        <p:spPr>
          <a:xfrm>
            <a:off x="3474720" y="2331720"/>
            <a:ext cx="25146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74720" y="2331720"/>
            <a:ext cx="251460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0" y="2514600"/>
            <a:ext cx="2148840" cy="1828800"/>
          </a:xfrm>
          <a:prstGeom prst="rect">
            <a:avLst/>
          </a:prstGeom>
          <a:noFill/>
        </p:spPr>
        <p:txBody>
          <a:bodyPr wrap="square">
            <a:spAutoFit/>
          </a:bodyPr>
          <a:lstStyle/>
          <a:p>
            <a:pPr>
              <a:spcAft>
                <a:spcPts val="800"/>
              </a:spcAft>
              <a:defRPr sz="900" b="1">
                <a:solidFill>
                  <a:srgbClr val="64748B"/>
                </a:solidFill>
              </a:defRPr>
            </a:pPr>
            <a:r>
              <a:t>GIÁ TRỊ ĐƠN HÀNG TB (AOV)</a:t>
            </a:r>
          </a:p>
          <a:p>
            <a:pPr>
              <a:spcAft>
                <a:spcPts val="600"/>
              </a:spcAft>
              <a:defRPr sz="2400" b="1">
                <a:solidFill>
                  <a:srgbClr val="0A192F"/>
                </a:solidFill>
              </a:defRPr>
            </a:pPr>
            <a:r>
              <a:t>$340.90</a:t>
            </a:r>
          </a:p>
          <a:p>
            <a:pPr>
              <a:spcAft>
                <a:spcPts val="400"/>
              </a:spcAft>
              <a:defRPr sz="950">
                <a:solidFill>
                  <a:srgbClr val="0F172A"/>
                </a:solidFill>
              </a:defRPr>
            </a:pPr>
            <a:r>
              <a:t>54.7% đơn &gt; $200</a:t>
            </a:r>
          </a:p>
          <a:p>
            <a:pPr>
              <a:defRPr sz="900" b="1">
                <a:solidFill>
                  <a:srgbClr val="2563EB"/>
                </a:solidFill>
              </a:defRPr>
            </a:pPr>
            <a:r>
              <a:t>Động lực từ Trả góp 3.67 kỳ</a:t>
            </a:r>
          </a:p>
        </p:txBody>
      </p:sp>
      <p:sp>
        <p:nvSpPr>
          <p:cNvPr id="13" name="Rounded Rectangle 12"/>
          <p:cNvSpPr/>
          <p:nvPr/>
        </p:nvSpPr>
        <p:spPr>
          <a:xfrm>
            <a:off x="6217920" y="2331720"/>
            <a:ext cx="25146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2331720"/>
            <a:ext cx="251460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514600"/>
            <a:ext cx="2148840" cy="1828800"/>
          </a:xfrm>
          <a:prstGeom prst="rect">
            <a:avLst/>
          </a:prstGeom>
          <a:noFill/>
        </p:spPr>
        <p:txBody>
          <a:bodyPr wrap="square">
            <a:spAutoFit/>
          </a:bodyPr>
          <a:lstStyle/>
          <a:p>
            <a:pPr>
              <a:spcAft>
                <a:spcPts val="800"/>
              </a:spcAft>
              <a:defRPr sz="900" b="1">
                <a:solidFill>
                  <a:srgbClr val="64748B"/>
                </a:solidFill>
              </a:defRPr>
            </a:pPr>
            <a:r>
              <a:t>RÒ RỈ CƯỚC SHIPPING</a:t>
            </a:r>
          </a:p>
          <a:p>
            <a:pPr>
              <a:spcAft>
                <a:spcPts val="600"/>
              </a:spcAft>
              <a:defRPr sz="2400" b="1">
                <a:solidFill>
                  <a:srgbClr val="0A192F"/>
                </a:solidFill>
              </a:defRPr>
            </a:pPr>
            <a:r>
              <a:t>12.99%</a:t>
            </a:r>
          </a:p>
          <a:p>
            <a:pPr>
              <a:spcAft>
                <a:spcPts val="400"/>
              </a:spcAft>
              <a:defRPr sz="950">
                <a:solidFill>
                  <a:srgbClr val="0F172A"/>
                </a:solidFill>
              </a:defRPr>
            </a:pPr>
            <a:r>
              <a:t>$3,955,199.17 cước phí</a:t>
            </a:r>
          </a:p>
          <a:p>
            <a:pPr>
              <a:defRPr sz="900" b="1">
                <a:solidFill>
                  <a:srgbClr val="EF4444"/>
                </a:solidFill>
              </a:defRPr>
            </a:pPr>
            <a:r>
              <a:t>⚠️ Vượt xa trần an toàn (8%)</a:t>
            </a:r>
          </a:p>
        </p:txBody>
      </p:sp>
      <p:sp>
        <p:nvSpPr>
          <p:cNvPr id="16" name="Rounded Rectangle 15"/>
          <p:cNvSpPr/>
          <p:nvPr/>
        </p:nvSpPr>
        <p:spPr>
          <a:xfrm>
            <a:off x="8961120" y="2331720"/>
            <a:ext cx="25146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61120" y="2331720"/>
            <a:ext cx="25146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0" y="2514600"/>
            <a:ext cx="2148840" cy="1828800"/>
          </a:xfrm>
          <a:prstGeom prst="rect">
            <a:avLst/>
          </a:prstGeom>
          <a:noFill/>
        </p:spPr>
        <p:txBody>
          <a:bodyPr wrap="square">
            <a:spAutoFit/>
          </a:bodyPr>
          <a:lstStyle/>
          <a:p>
            <a:pPr>
              <a:spcAft>
                <a:spcPts val="800"/>
              </a:spcAft>
              <a:defRPr sz="900" b="1">
                <a:solidFill>
                  <a:srgbClr val="64748B"/>
                </a:solidFill>
              </a:defRPr>
            </a:pPr>
            <a:r>
              <a:t>THỜI GIAN GIAO TB (LEAD TIME)</a:t>
            </a:r>
          </a:p>
          <a:p>
            <a:pPr>
              <a:spcAft>
                <a:spcPts val="600"/>
              </a:spcAft>
              <a:defRPr sz="2400" b="1">
                <a:solidFill>
                  <a:srgbClr val="0A192F"/>
                </a:solidFill>
              </a:defRPr>
            </a:pPr>
            <a:r>
              <a:t>12.43 Ngày</a:t>
            </a:r>
          </a:p>
          <a:p>
            <a:pPr>
              <a:spcAft>
                <a:spcPts val="400"/>
              </a:spcAft>
              <a:defRPr sz="950">
                <a:solidFill>
                  <a:srgbClr val="0F172A"/>
                </a:solidFill>
              </a:defRPr>
            </a:pPr>
            <a:r>
              <a:t>Đúng hạn (&lt;3d): 5.01%</a:t>
            </a:r>
          </a:p>
          <a:p>
            <a:pPr>
              <a:defRPr sz="900" b="1">
                <a:solidFill>
                  <a:srgbClr val="F59E0B"/>
                </a:solidFill>
              </a:defRPr>
            </a:pPr>
            <a:r>
              <a:t>🚨 Tắc nghẽn tại RJ &amp; Bahia</a:t>
            </a:r>
          </a:p>
        </p:txBody>
      </p:sp>
      <p:sp>
        <p:nvSpPr>
          <p:cNvPr id="19" name="Rounded Rectangle 18"/>
          <p:cNvSpPr/>
          <p:nvPr/>
        </p:nvSpPr>
        <p:spPr>
          <a:xfrm>
            <a:off x="731520" y="4709160"/>
            <a:ext cx="3474720" cy="16916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846320"/>
            <a:ext cx="3108960" cy="1371600"/>
          </a:xfrm>
          <a:prstGeom prst="rect">
            <a:avLst/>
          </a:prstGeom>
          <a:noFill/>
        </p:spPr>
        <p:txBody>
          <a:bodyPr wrap="square">
            <a:spAutoFit/>
          </a:bodyPr>
          <a:lstStyle/>
          <a:p>
            <a:pPr>
              <a:spcAft>
                <a:spcPts val="600"/>
              </a:spcAft>
              <a:defRPr sz="1100" b="1">
                <a:solidFill>
                  <a:srgbClr val="1E3A8A"/>
                </a:solidFill>
              </a:defRPr>
            </a:pPr>
            <a:r>
              <a:t>Trụ Cột 1: Doanh Thu &amp; Sản Phẩm</a:t>
            </a:r>
          </a:p>
          <a:p>
            <a:pPr>
              <a:defRPr sz="950">
                <a:solidFill>
                  <a:srgbClr val="0F172A"/>
                </a:solidFill>
              </a:defRPr>
            </a:pPr>
            <a:r>
              <a:t>Tập trung cực lớn vào ngành hàng Toys ($22.99M - 75.5%). Cần kiểm soát các danh mục rò rỉ phí ship &gt; 15%.</a:t>
            </a:r>
          </a:p>
        </p:txBody>
      </p:sp>
      <p:sp>
        <p:nvSpPr>
          <p:cNvPr id="21" name="Rounded Rectangle 20"/>
          <p:cNvSpPr/>
          <p:nvPr/>
        </p:nvSpPr>
        <p:spPr>
          <a:xfrm>
            <a:off x="4434840" y="4709160"/>
            <a:ext cx="3474720" cy="16916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4846320"/>
            <a:ext cx="3108960" cy="1371600"/>
          </a:xfrm>
          <a:prstGeom prst="rect">
            <a:avLst/>
          </a:prstGeom>
          <a:noFill/>
        </p:spPr>
        <p:txBody>
          <a:bodyPr wrap="square">
            <a:spAutoFit/>
          </a:bodyPr>
          <a:lstStyle/>
          <a:p>
            <a:pPr>
              <a:spcAft>
                <a:spcPts val="600"/>
              </a:spcAft>
              <a:defRPr sz="1100" b="1">
                <a:solidFill>
                  <a:srgbClr val="1E3A8A"/>
                </a:solidFill>
              </a:defRPr>
            </a:pPr>
            <a:r>
              <a:t>Trụ Cột 2: Khách Hàng &amp; Giữ Chân</a:t>
            </a:r>
          </a:p>
          <a:p>
            <a:pPr>
              <a:defRPr sz="950">
                <a:solidFill>
                  <a:srgbClr val="0F172A"/>
                </a:solidFill>
              </a:defRPr>
            </a:pPr>
            <a:r>
              <a:t>82% khách hàng thuộc nhóm At-Risk (&gt;90 ngày). Cần tập trung nguồn lực kích hoạt lại 5,281 VIP (&gt; $1,000).</a:t>
            </a:r>
          </a:p>
        </p:txBody>
      </p:sp>
      <p:sp>
        <p:nvSpPr>
          <p:cNvPr id="23" name="Rounded Rectangle 22"/>
          <p:cNvSpPr/>
          <p:nvPr/>
        </p:nvSpPr>
        <p:spPr>
          <a:xfrm>
            <a:off x="8138160" y="4709160"/>
            <a:ext cx="3474720" cy="16916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4846320"/>
            <a:ext cx="3108960" cy="1371600"/>
          </a:xfrm>
          <a:prstGeom prst="rect">
            <a:avLst/>
          </a:prstGeom>
          <a:noFill/>
        </p:spPr>
        <p:txBody>
          <a:bodyPr wrap="square">
            <a:spAutoFit/>
          </a:bodyPr>
          <a:lstStyle/>
          <a:p>
            <a:pPr>
              <a:spcAft>
                <a:spcPts val="600"/>
              </a:spcAft>
              <a:defRPr sz="1100" b="1">
                <a:solidFill>
                  <a:srgbClr val="1E3A8A"/>
                </a:solidFill>
              </a:defRPr>
            </a:pPr>
            <a:r>
              <a:t>Trụ Cột 3: Chuỗi Cung Ứng &amp; Vận Hành</a:t>
            </a:r>
          </a:p>
          <a:p>
            <a:pPr>
              <a:defRPr sz="950">
                <a:solidFill>
                  <a:srgbClr val="0F172A"/>
                </a:solidFill>
              </a:defRPr>
            </a:pPr>
            <a:r>
              <a:t>Lead Time 12.43 ngày kéo dài rủi ro rời bỏ. Điểm nghẽn nghiêm trọng tại Bahia (19.33 ngày) và Rio de Janeiro (15.21 ngày).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777240"/>
          </a:xfrm>
          <a:prstGeom prst="rect">
            <a:avLst/>
          </a:prstGeom>
          <a:noFill/>
        </p:spPr>
        <p:txBody>
          <a:bodyPr wrap="square" lIns="0" tIns="0" rIns="0" bIns="0">
            <a:spAutoFit/>
          </a:bodyPr>
          <a:lstStyle/>
          <a:p>
            <a:pPr>
              <a:defRPr sz="950" b="1">
                <a:solidFill>
                  <a:srgbClr val="F59E0B"/>
                </a:solidFill>
              </a:defRPr>
            </a:pPr>
            <a:r>
              <a:t>PHẦN 2: KỸ THUẬT TIỀN XỬ LÝ DỮ LIỆU</a:t>
            </a:r>
          </a:p>
          <a:p>
            <a:pPr>
              <a:defRPr sz="1700" b="1">
                <a:solidFill>
                  <a:srgbClr val="FFFFFF"/>
                </a:solidFill>
              </a:defRPr>
            </a:pPr>
            <a:r>
              <a:t>KHÁM PHÁ &amp; LÀM SẠCH DỮ LIỆU THỰC NGHIỆM (EDA &amp; DATA CLEANSING)</a:t>
            </a:r>
          </a:p>
        </p:txBody>
      </p:sp>
      <p:sp>
        <p:nvSpPr>
          <p:cNvPr id="5" name="Rounded Rectangle 4"/>
          <p:cNvSpPr/>
          <p:nvPr/>
        </p:nvSpPr>
        <p:spPr>
          <a:xfrm>
            <a:off x="731520" y="1234440"/>
            <a:ext cx="512064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4754880" cy="4754880"/>
          </a:xfrm>
          <a:prstGeom prst="rect">
            <a:avLst/>
          </a:prstGeom>
          <a:noFill/>
        </p:spPr>
        <p:txBody>
          <a:bodyPr wrap="square">
            <a:spAutoFit/>
          </a:bodyPr>
          <a:lstStyle/>
          <a:p>
            <a:pPr>
              <a:spcAft>
                <a:spcPts val="1000"/>
              </a:spcAft>
              <a:defRPr sz="1200" b="1">
                <a:solidFill>
                  <a:srgbClr val="1E3A8A"/>
                </a:solidFill>
              </a:defRPr>
            </a:pPr>
            <a:r>
              <a:t>🛠️ QUY TRÌNH KIỂM TRA &amp; XỬ LÝ DỮ LIỆU</a:t>
            </a:r>
          </a:p>
          <a:p>
            <a:pPr>
              <a:defRPr sz="1000" b="1">
                <a:solidFill>
                  <a:srgbClr val="0A192F"/>
                </a:solidFill>
              </a:defRPr>
            </a:pPr>
            <a:r>
              <a:t>• Xoá Trùng Lặp Triệt Để (Duplicate Check):</a:t>
            </a:r>
          </a:p>
          <a:p>
            <a:pPr>
              <a:spcAft>
                <a:spcPts val="800"/>
              </a:spcAft>
              <a:defRPr sz="900">
                <a:solidFill>
                  <a:srgbClr val="0F172A"/>
                </a:solidFill>
              </a:defRPr>
            </a:pPr>
            <a:r>
              <a:t>Bảng df_Products gốc có 89,316 dòng chứa tới 61,865 bản ghi trùng lặp hoàn toàn. Đã áp dụng Drop Duplicates thành công, rút gọn về đúng 27,451 sản phẩm duy nhất.</a:t>
            </a:r>
          </a:p>
          <a:p>
            <a:pPr>
              <a:defRPr sz="1000" b="1">
                <a:solidFill>
                  <a:srgbClr val="0A192F"/>
                </a:solidFill>
              </a:defRPr>
            </a:pPr>
            <a:r>
              <a:t>• Xử Lý Giá Trị Khuyết Thiếu (Missing Values):</a:t>
            </a:r>
          </a:p>
          <a:p>
            <a:pPr>
              <a:spcAft>
                <a:spcPts val="800"/>
              </a:spcAft>
              <a:defRPr sz="900">
                <a:solidFill>
                  <a:srgbClr val="0F172A"/>
                </a:solidFill>
              </a:defRPr>
            </a:pPr>
            <a:r>
              <a:t>• Cột Ship Date khuyết 1,889 dòng: Giữ nguyên Null để phản ánh chính xác đơn hàng hủy (404 đơn) hoặc chưa giao.</a:t>
            </a:r>
            <a:br/>
            <a:r>
              <a:t>• Danh mục khuyết 308 dòng: Gắn nhãn chuẩn 'Unspecified'.</a:t>
            </a:r>
            <a:br/>
            <a:r>
              <a:t>• Khối lượng khuyết: Điền giá trị Trung vị (Median).</a:t>
            </a:r>
          </a:p>
          <a:p>
            <a:pPr>
              <a:defRPr sz="1000" b="1">
                <a:solidFill>
                  <a:srgbClr val="0A192F"/>
                </a:solidFill>
              </a:defRPr>
            </a:pPr>
            <a:r>
              <a:t>• Chuẩn Hóa Kiểu Dữ Liệu (Data Type):</a:t>
            </a:r>
          </a:p>
          <a:p>
            <a:pPr>
              <a:spcAft>
                <a:spcPts val="800"/>
              </a:spcAft>
              <a:defRPr sz="900">
                <a:solidFill>
                  <a:srgbClr val="0F172A"/>
                </a:solidFill>
              </a:defRPr>
            </a:pPr>
            <a:r>
              <a:t>Ép kiểu Date chuẩn (Order Date, Ship Date), Decimal số thực (Sales, Shipping Charge, Weight kg) và Text (ID keys).</a:t>
            </a:r>
          </a:p>
          <a:p>
            <a:pPr>
              <a:defRPr sz="1000" b="1">
                <a:solidFill>
                  <a:srgbClr val="0A192F"/>
                </a:solidFill>
              </a:defRPr>
            </a:pPr>
            <a:r>
              <a:t>• Ràng Buộc Logic (Sanity Constraints):</a:t>
            </a:r>
          </a:p>
          <a:p>
            <a:pPr>
              <a:spcAft>
                <a:spcPts val="800"/>
              </a:spcAft>
              <a:defRPr sz="900">
                <a:solidFill>
                  <a:srgbClr val="0F172A"/>
                </a:solidFill>
              </a:defRPr>
            </a:pPr>
            <a:r>
              <a:t>Khống chế Delivery Lead Time &gt;= 0 ngày, Doanh thu Sales &gt; 0 và Cước phí Shipping &gt;= 0.</a:t>
            </a:r>
          </a:p>
        </p:txBody>
      </p:sp>
      <p:sp>
        <p:nvSpPr>
          <p:cNvPr id="7" name="Rounded Rectangle 6"/>
          <p:cNvSpPr/>
          <p:nvPr/>
        </p:nvSpPr>
        <p:spPr>
          <a:xfrm>
            <a:off x="6035040" y="1234440"/>
            <a:ext cx="5425135"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1371600"/>
            <a:ext cx="5029200" cy="4754880"/>
          </a:xfrm>
          <a:prstGeom prst="rect">
            <a:avLst/>
          </a:prstGeom>
          <a:noFill/>
        </p:spPr>
        <p:txBody>
          <a:bodyPr wrap="square">
            <a:spAutoFit/>
          </a:bodyPr>
          <a:lstStyle/>
          <a:p>
            <a:pPr>
              <a:spcAft>
                <a:spcPts val="1000"/>
              </a:spcAft>
              <a:defRPr sz="1200" b="1">
                <a:solidFill>
                  <a:srgbClr val="1E3A8A"/>
                </a:solidFill>
              </a:defRPr>
            </a:pPr>
            <a:r>
              <a:t>📊 CHIẾN LƯỢC GOM NHÓM DỮ LIỆU (DATA BINNING)</a:t>
            </a:r>
          </a:p>
          <a:p>
            <a:pPr>
              <a:defRPr sz="1000" b="1">
                <a:solidFill>
                  <a:srgbClr val="2563EB"/>
                </a:solidFill>
              </a:defRPr>
            </a:pPr>
            <a:r>
              <a:t>📌 Delivery Performance Tier (Thời gian giao hàng)</a:t>
            </a:r>
          </a:p>
          <a:p>
            <a:pPr>
              <a:spcAft>
                <a:spcPts val="600"/>
              </a:spcAft>
              <a:defRPr sz="900">
                <a:solidFill>
                  <a:srgbClr val="0F172A"/>
                </a:solidFill>
              </a:defRPr>
            </a:pPr>
            <a:r>
              <a:t>• Same Day / Express: &lt;= 0 ngày (0 đơn)</a:t>
            </a:r>
            <a:br/>
            <a:r>
              <a:t>• Standard Delivery: 1 - 3 ngày (4,378 đơn - 4.90%)</a:t>
            </a:r>
            <a:br/>
            <a:r>
              <a:t>• Delayed Delivery: &gt; 3 ngày (83,049 đơn - 92.98%)</a:t>
            </a:r>
            <a:br/>
            <a:r>
              <a:t>• Not Shipped / Cancelled: 1,889 đơn (2.11%)</a:t>
            </a:r>
          </a:p>
          <a:p>
            <a:pPr>
              <a:defRPr sz="1000" b="1">
                <a:solidFill>
                  <a:srgbClr val="2563EB"/>
                </a:solidFill>
              </a:defRPr>
            </a:pPr>
            <a:r>
              <a:t>📌 Order Basket Value Tier (Quy mô giỏ hàng)</a:t>
            </a:r>
          </a:p>
          <a:p>
            <a:pPr>
              <a:spcAft>
                <a:spcPts val="600"/>
              </a:spcAft>
              <a:defRPr sz="900">
                <a:solidFill>
                  <a:srgbClr val="0F172A"/>
                </a:solidFill>
              </a:defRPr>
            </a:pPr>
            <a:r>
              <a:t>• Low Value (&lt; $50): 3,491 đơn (3.91%)</a:t>
            </a:r>
            <a:br/>
            <a:r>
              <a:t>• Medium Value ($50 - $200): 36,929 đơn (41.35%)</a:t>
            </a:r>
            <a:br/>
            <a:r>
              <a:t>• High Value (&gt; $200): 48,896 đơn (54.74% - Đa số)</a:t>
            </a:r>
          </a:p>
          <a:p>
            <a:pPr>
              <a:defRPr sz="1000" b="1">
                <a:solidFill>
                  <a:srgbClr val="2563EB"/>
                </a:solidFill>
              </a:defRPr>
            </a:pPr>
            <a:r>
              <a:t>📌 Logistics Cost Tier (Tỷ lệ chi phí vận chuyển)</a:t>
            </a:r>
          </a:p>
          <a:p>
            <a:pPr>
              <a:spcAft>
                <a:spcPts val="600"/>
              </a:spcAft>
              <a:defRPr sz="900">
                <a:solidFill>
                  <a:srgbClr val="0F172A"/>
                </a:solidFill>
              </a:defRPr>
            </a:pPr>
            <a:r>
              <a:t>• Optimal (&lt; 8%): 33,269 đơn (37.25%)</a:t>
            </a:r>
            <a:br/>
            <a:r>
              <a:t>• Moderate (8% - 15%): 32,878 đơn (36.81%)</a:t>
            </a:r>
            <a:br/>
            <a:r>
              <a:t>• Profit Erosion (&gt; 15%): 23,169 đơn (25.94% rủi ro)</a:t>
            </a:r>
          </a:p>
          <a:p>
            <a:pPr>
              <a:defRPr sz="1000" b="1">
                <a:solidFill>
                  <a:srgbClr val="2563EB"/>
                </a:solidFill>
              </a:defRPr>
            </a:pPr>
            <a:r>
              <a:t>📌 Weight Class (Khối lượng hàng hóa)</a:t>
            </a:r>
          </a:p>
          <a:p>
            <a:pPr>
              <a:spcAft>
                <a:spcPts val="600"/>
              </a:spcAft>
              <a:defRPr sz="900">
                <a:solidFill>
                  <a:srgbClr val="0F172A"/>
                </a:solidFill>
              </a:defRPr>
            </a:pPr>
            <a:r>
              <a:t>• Hàng nhẹ (&lt; 1kg): 52,860 đơn (59.18%)</a:t>
            </a:r>
            <a:br/>
            <a:r>
              <a:t>• Hàng vừa (1kg - 5kg): 25,541 đơn (28.60%)</a:t>
            </a:r>
            <a:br/>
            <a:r>
              <a:t>• Hàng nặng cồng kềnh (&gt; 5kg): 10,915 đơn (12.22%)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777240"/>
          </a:xfrm>
          <a:prstGeom prst="rect">
            <a:avLst/>
          </a:prstGeom>
          <a:noFill/>
        </p:spPr>
        <p:txBody>
          <a:bodyPr wrap="square" lIns="0" tIns="0" rIns="0" bIns="0">
            <a:spAutoFit/>
          </a:bodyPr>
          <a:lstStyle/>
          <a:p>
            <a:pPr>
              <a:defRPr sz="950" b="1">
                <a:solidFill>
                  <a:srgbClr val="F59E0B"/>
                </a:solidFill>
              </a:defRPr>
            </a:pPr>
            <a:r>
              <a:t>PHẦN 3: DATA MODELING &amp; FORMULA ARCHITECTURE</a:t>
            </a:r>
          </a:p>
          <a:p>
            <a:pPr>
              <a:defRPr sz="1700" b="1">
                <a:solidFill>
                  <a:srgbClr val="FFFFFF"/>
                </a:solidFill>
              </a:defRPr>
            </a:pPr>
            <a:r>
              <a:t>KIẾN TRÚC MÔ HÌNH STAR SCHEMA &amp; BAREM CÔNG THỨC DAX</a:t>
            </a:r>
          </a:p>
        </p:txBody>
      </p:sp>
      <p:sp>
        <p:nvSpPr>
          <p:cNvPr id="5" name="Rounded Rectangle 4"/>
          <p:cNvSpPr/>
          <p:nvPr/>
        </p:nvSpPr>
        <p:spPr>
          <a:xfrm>
            <a:off x="731520" y="1234440"/>
            <a:ext cx="548640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5120640" cy="4754880"/>
          </a:xfrm>
          <a:prstGeom prst="rect">
            <a:avLst/>
          </a:prstGeom>
          <a:noFill/>
        </p:spPr>
        <p:txBody>
          <a:bodyPr wrap="square">
            <a:spAutoFit/>
          </a:bodyPr>
          <a:lstStyle/>
          <a:p>
            <a:pPr>
              <a:spcAft>
                <a:spcPts val="1000"/>
              </a:spcAft>
              <a:defRPr sz="1200" b="1">
                <a:solidFill>
                  <a:srgbClr val="1E3A8A"/>
                </a:solidFill>
              </a:defRPr>
            </a:pPr>
            <a:r>
              <a:t>⭐ MÔ HÌNH STAR SCHEMA CHUẨN POWER BI</a:t>
            </a:r>
          </a:p>
          <a:p>
            <a:pPr>
              <a:spcAft>
                <a:spcPts val="800"/>
              </a:spcAft>
              <a:defRPr sz="1000" b="1">
                <a:solidFill>
                  <a:srgbClr val="64748B"/>
                </a:solidFill>
              </a:defRPr>
            </a:pPr>
            <a:r>
              <a:t>1 Bảng Fact Trung Tâm + 4 Bảng Chiều (Quan hệ 1-Nhiều 1:*)</a:t>
            </a:r>
          </a:p>
          <a:p>
            <a:pPr>
              <a:defRPr sz="950" b="1">
                <a:solidFill>
                  <a:srgbClr val="0A192F"/>
                </a:solidFill>
              </a:defRPr>
            </a:pPr>
            <a:r>
              <a:t>• Fact_Orders (89,316 records - Bảng trung tâm):</a:t>
            </a:r>
          </a:p>
          <a:p>
            <a:pPr>
              <a:spcAft>
                <a:spcPts val="600"/>
              </a:spcAft>
              <a:defRPr sz="880">
                <a:solidFill>
                  <a:srgbClr val="0F172A"/>
                </a:solidFill>
              </a:defRPr>
            </a:pPr>
            <a:r>
              <a:t>Lưu vết toàn bộ Order ID, Customer ID, Product ID, Sales, Shipping Charge, Order Date, Ship Date, Lead Time, Status &amp; các trường Bins.</a:t>
            </a:r>
          </a:p>
          <a:p>
            <a:pPr>
              <a:defRPr sz="950" b="1">
                <a:solidFill>
                  <a:srgbClr val="0A192F"/>
                </a:solidFill>
              </a:defRPr>
            </a:pPr>
            <a:r>
              <a:t>• Dim_Customers (89,316 records):</a:t>
            </a:r>
          </a:p>
          <a:p>
            <a:pPr>
              <a:spcAft>
                <a:spcPts val="600"/>
              </a:spcAft>
              <a:defRPr sz="880">
                <a:solidFill>
                  <a:srgbClr val="0F172A"/>
                </a:solidFill>
              </a:defRPr>
            </a:pPr>
            <a:r>
              <a:t>Khóa chính: customer_id. Lưu địa lý (State, City, Zipcode), Recency Days và Phân khúc khách hàng.</a:t>
            </a:r>
          </a:p>
          <a:p>
            <a:pPr>
              <a:defRPr sz="950" b="1">
                <a:solidFill>
                  <a:srgbClr val="0A192F"/>
                </a:solidFill>
              </a:defRPr>
            </a:pPr>
            <a:r>
              <a:t>• Dim_Products (27,451 records đã khử trùng):</a:t>
            </a:r>
          </a:p>
          <a:p>
            <a:pPr>
              <a:spcAft>
                <a:spcPts val="600"/>
              </a:spcAft>
              <a:defRPr sz="880">
                <a:solidFill>
                  <a:srgbClr val="0F172A"/>
                </a:solidFill>
              </a:defRPr>
            </a:pPr>
            <a:r>
              <a:t>Khóa chính: product_id. Danh mục sản phẩm, khối lượng chuẩn hóa (kg) và phân lớp Weight Class.</a:t>
            </a:r>
          </a:p>
          <a:p>
            <a:pPr>
              <a:defRPr sz="950" b="1">
                <a:solidFill>
                  <a:srgbClr val="0A192F"/>
                </a:solidFill>
              </a:defRPr>
            </a:pPr>
            <a:r>
              <a:t>• Dim_Date (1,096 records - Bảng Lịch tự động):</a:t>
            </a:r>
          </a:p>
          <a:p>
            <a:pPr>
              <a:spcAft>
                <a:spcPts val="600"/>
              </a:spcAft>
              <a:defRPr sz="880">
                <a:solidFill>
                  <a:srgbClr val="0F172A"/>
                </a:solidFill>
              </a:defRPr>
            </a:pPr>
            <a:r>
              <a:t>Khóa: date_key (YYYYMMDD). Năm, Quý, Tháng, Thứ, Ngày cuối tuần; hỗ trợ Time Intelligence (MoM, YoY, YTD).</a:t>
            </a:r>
          </a:p>
          <a:p>
            <a:pPr>
              <a:defRPr sz="950" b="1">
                <a:solidFill>
                  <a:srgbClr val="0A192F"/>
                </a:solidFill>
              </a:defRPr>
            </a:pPr>
            <a:r>
              <a:t>• Dim_Payments (89,316 records):</a:t>
            </a:r>
          </a:p>
          <a:p>
            <a:pPr>
              <a:spcAft>
                <a:spcPts val="600"/>
              </a:spcAft>
              <a:defRPr sz="880">
                <a:solidFill>
                  <a:srgbClr val="0F172A"/>
                </a:solidFill>
              </a:defRPr>
            </a:pPr>
            <a:r>
              <a:t>Phương thức thanh toán và số kỳ trả góp của từng đơn hàng.</a:t>
            </a:r>
          </a:p>
        </p:txBody>
      </p:sp>
      <p:sp>
        <p:nvSpPr>
          <p:cNvPr id="7" name="Rounded Rectangle 6"/>
          <p:cNvSpPr/>
          <p:nvPr/>
        </p:nvSpPr>
        <p:spPr>
          <a:xfrm>
            <a:off x="6400800" y="1234440"/>
            <a:ext cx="5059375"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371600"/>
            <a:ext cx="4663440" cy="4754880"/>
          </a:xfrm>
          <a:prstGeom prst="rect">
            <a:avLst/>
          </a:prstGeom>
          <a:noFill/>
        </p:spPr>
        <p:txBody>
          <a:bodyPr wrap="square">
            <a:spAutoFit/>
          </a:bodyPr>
          <a:lstStyle/>
          <a:p>
            <a:pPr>
              <a:spcAft>
                <a:spcPts val="1000"/>
              </a:spcAft>
              <a:defRPr sz="1200" b="1">
                <a:solidFill>
                  <a:srgbClr val="1E3A8A"/>
                </a:solidFill>
              </a:defRPr>
            </a:pPr>
            <a:r>
              <a:t>💻 THƯ VIỆN 27 CÔNG THỨC DAX CHUẨN ĐỀ BÀI</a:t>
            </a:r>
          </a:p>
          <a:p>
            <a:pPr>
              <a:defRPr sz="919" b="1">
                <a:solidFill>
                  <a:srgbClr val="10B981"/>
                </a:solidFill>
              </a:defRPr>
            </a:pPr>
            <a:r>
              <a:t>1. Total Revenue:</a:t>
            </a:r>
          </a:p>
          <a:p>
            <a:pPr>
              <a:spcAft>
                <a:spcPts val="500"/>
              </a:spcAft>
              <a:defRPr sz="819">
                <a:solidFill>
                  <a:srgbClr val="334155"/>
                </a:solidFill>
              </a:defRPr>
            </a:pPr>
            <a:r>
              <a:t>Total Revenue = SUM(Fact_Orders[sales])</a:t>
            </a:r>
          </a:p>
          <a:p>
            <a:pPr>
              <a:defRPr sz="919" b="1">
                <a:solidFill>
                  <a:srgbClr val="10B981"/>
                </a:solidFill>
              </a:defRPr>
            </a:pPr>
            <a:r>
              <a:t>2. Average Order Value (AOV):</a:t>
            </a:r>
          </a:p>
          <a:p>
            <a:pPr>
              <a:spcAft>
                <a:spcPts val="500"/>
              </a:spcAft>
              <a:defRPr sz="819">
                <a:solidFill>
                  <a:srgbClr val="334155"/>
                </a:solidFill>
              </a:defRPr>
            </a:pPr>
            <a:r>
              <a:t>AOV = DIVIDE([Total Revenue], [Total Orders], 0)</a:t>
            </a:r>
          </a:p>
          <a:p>
            <a:pPr>
              <a:defRPr sz="919" b="1">
                <a:solidFill>
                  <a:srgbClr val="10B981"/>
                </a:solidFill>
              </a:defRPr>
            </a:pPr>
            <a:r>
              <a:t>3. On-Time Delivery Rate %:</a:t>
            </a:r>
          </a:p>
          <a:p>
            <a:pPr>
              <a:spcAft>
                <a:spcPts val="500"/>
              </a:spcAft>
              <a:defRPr sz="819">
                <a:solidFill>
                  <a:srgbClr val="334155"/>
                </a:solidFill>
              </a:defRPr>
            </a:pPr>
            <a:r>
              <a:t>VAR Delivered = CALCULATE([Total Orders], NOT(ISBLANK(Fact_Orders[ship_date])))</a:t>
            </a:r>
            <a:br/>
            <a:r>
              <a:t>VAR OnTime = CALCULATE([Total Orders], Fact_Orders[delivery_tier] IN {'1. Express', '2. Standard'})</a:t>
            </a:r>
            <a:br/>
            <a:r>
              <a:t>RETURN DIVIDE(OnTime, Delivered, 0)</a:t>
            </a:r>
          </a:p>
          <a:p>
            <a:pPr>
              <a:defRPr sz="919" b="1">
                <a:solidFill>
                  <a:srgbClr val="10B981"/>
                </a:solidFill>
              </a:defRPr>
            </a:pPr>
            <a:r>
              <a:t>4. Shipping Cost Ratio %:</a:t>
            </a:r>
          </a:p>
          <a:p>
            <a:pPr>
              <a:spcAft>
                <a:spcPts val="500"/>
              </a:spcAft>
              <a:defRPr sz="819">
                <a:solidFill>
                  <a:srgbClr val="334155"/>
                </a:solidFill>
              </a:defRPr>
            </a:pPr>
            <a:r>
              <a:t>Shipping Cost Ratio % = DIVIDE(SUM(Fact_Orders[shipping_charge]), [Total Revenue], 0)</a:t>
            </a:r>
          </a:p>
          <a:p>
            <a:pPr>
              <a:defRPr sz="919" b="1">
                <a:solidFill>
                  <a:srgbClr val="10B981"/>
                </a:solidFill>
              </a:defRPr>
            </a:pPr>
            <a:r>
              <a:t>5. Customer Segment (Chuẩn Đề Bài Section 6.1):</a:t>
            </a:r>
          </a:p>
          <a:p>
            <a:pPr>
              <a:spcAft>
                <a:spcPts val="500"/>
              </a:spcAft>
              <a:defRPr sz="819">
                <a:solidFill>
                  <a:srgbClr val="334155"/>
                </a:solidFill>
              </a:defRPr>
            </a:pPr>
            <a:r>
              <a:t>SWITCH(TRUE(),</a:t>
            </a:r>
            <a:br/>
            <a:r>
              <a:t>  RecencyDays &gt; 90, '4. Lost / At-Risk',</a:t>
            </a:r>
            <a:br/>
            <a:r>
              <a:t>  TotalSpend &gt;= 1000 &amp;&amp; TotalOrders &gt;= 5, '1. VIP',</a:t>
            </a:r>
            <a:br/>
            <a:r>
              <a:t>  TotalOrders &gt;= 3, '2. Loyal',</a:t>
            </a:r>
            <a:br/>
            <a:r>
              <a:t>  '3. Potential')</a:t>
            </a:r>
          </a:p>
          <a:p>
            <a:pPr>
              <a:defRPr sz="919" b="1">
                <a:solidFill>
                  <a:srgbClr val="10B981"/>
                </a:solidFill>
              </a:defRPr>
            </a:pPr>
            <a:r>
              <a:t>6. Enhanced Monetary Segment (Mô hình Nâng cao):</a:t>
            </a:r>
          </a:p>
          <a:p>
            <a:pPr>
              <a:spcAft>
                <a:spcPts val="500"/>
              </a:spcAft>
              <a:defRPr sz="819">
                <a:solidFill>
                  <a:srgbClr val="334155"/>
                </a:solidFill>
              </a:defRPr>
            </a:pPr>
            <a:r>
              <a:t>Bổ sung nhận diện khách hàng chi tiêu lớn &gt; $1,000 cho tập dữ liệu đơn lẻ (Single Purchase).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777240"/>
          </a:xfrm>
          <a:prstGeom prst="rect">
            <a:avLst/>
          </a:prstGeom>
          <a:noFill/>
        </p:spPr>
        <p:txBody>
          <a:bodyPr wrap="square" lIns="0" tIns="0" rIns="0" bIns="0">
            <a:spAutoFit/>
          </a:bodyPr>
          <a:lstStyle/>
          <a:p>
            <a:pPr>
              <a:defRPr sz="950" b="1">
                <a:solidFill>
                  <a:srgbClr val="F59E0B"/>
                </a:solidFill>
              </a:defRPr>
            </a:pPr>
            <a:r>
              <a:t>PHẦN 4: SALES PERFORMANCE &amp; PRODUCT ANALYTICS</a:t>
            </a:r>
          </a:p>
          <a:p>
            <a:pPr>
              <a:defRPr sz="1700" b="1">
                <a:solidFill>
                  <a:srgbClr val="FFFFFF"/>
                </a:solidFill>
              </a:defRPr>
            </a:pPr>
            <a:r>
              <a:t>TRỤ CỘT 1: PHÂN TÍCH HIỆU QUẢ DOANH THU &amp; CƠ CẤU SẢN PHẨM</a:t>
            </a:r>
          </a:p>
        </p:txBody>
      </p:sp>
      <p:sp>
        <p:nvSpPr>
          <p:cNvPr id="5" name="Rounded Rectangle 4"/>
          <p:cNvSpPr/>
          <p:nvPr/>
        </p:nvSpPr>
        <p:spPr>
          <a:xfrm>
            <a:off x="731520" y="1234440"/>
            <a:ext cx="685800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6492240" cy="4754880"/>
          </a:xfrm>
          <a:prstGeom prst="rect">
            <a:avLst/>
          </a:prstGeom>
          <a:noFill/>
        </p:spPr>
        <p:txBody>
          <a:bodyPr wrap="square">
            <a:spAutoFit/>
          </a:bodyPr>
          <a:lstStyle/>
          <a:p>
            <a:pPr>
              <a:spcAft>
                <a:spcPts val="1000"/>
              </a:spcAft>
              <a:defRPr sz="1150" b="1">
                <a:solidFill>
                  <a:srgbClr val="1E3A8A"/>
                </a:solidFill>
              </a:defRPr>
            </a:pPr>
            <a:r>
              <a:t>📦 CƠ CẤU DOANH THU &amp; CHI PHÍ SHIPPING THEO NGÀNH HÀNG</a:t>
            </a:r>
          </a:p>
        </p:txBody>
      </p:sp>
      <p:graphicFrame>
        <p:nvGraphicFramePr>
          <p:cNvPr id="7" name="Table 6"/>
          <p:cNvGraphicFramePr>
            <a:graphicFrameLocks noGrp="1"/>
          </p:cNvGraphicFramePr>
          <p:nvPr/>
        </p:nvGraphicFramePr>
        <p:xfrm>
          <a:off x="914400" y="1828800"/>
          <a:ext cx="6492240" cy="4297680"/>
        </p:xfrm>
        <a:graphic>
          <a:graphicData uri="http://schemas.openxmlformats.org/drawingml/2006/table">
            <a:tbl>
              <a:tblPr firstRow="1" bandRow="1">
                <a:tableStyleId>{5C22544A-7EE6-4342-B048-85BDC9FD1C3A}</a:tableStyleId>
              </a:tblPr>
              <a:tblGrid>
                <a:gridCol w="1645920"/>
                <a:gridCol w="822960"/>
                <a:gridCol w="1097280"/>
                <a:gridCol w="914400"/>
                <a:gridCol w="914400"/>
                <a:gridCol w="1097280"/>
              </a:tblGrid>
              <a:tr h="537210">
                <a:tc>
                  <a:txBody>
                    <a:bodyPr/>
                    <a:lstStyle/>
                    <a:p>
                      <a:pPr>
                        <a:defRPr sz="900" b="1">
                          <a:solidFill>
                            <a:srgbClr val="FFFFFF"/>
                          </a:solidFill>
                        </a:defRPr>
                      </a:pPr>
                      <a:r>
                        <a:t>Danh mục</a:t>
                      </a:r>
                    </a:p>
                  </a:txBody>
                  <a:tcPr>
                    <a:solidFill>
                      <a:srgbClr val="0A192F"/>
                    </a:solidFill>
                  </a:tcPr>
                </a:tc>
                <a:tc>
                  <a:txBody>
                    <a:bodyPr/>
                    <a:lstStyle/>
                    <a:p>
                      <a:pPr>
                        <a:defRPr sz="900" b="1">
                          <a:solidFill>
                            <a:srgbClr val="FFFFFF"/>
                          </a:solidFill>
                        </a:defRPr>
                      </a:pPr>
                      <a:r>
                        <a:t>Số Đơn</a:t>
                      </a:r>
                    </a:p>
                  </a:txBody>
                  <a:tcPr>
                    <a:solidFill>
                      <a:srgbClr val="0A192F"/>
                    </a:solidFill>
                  </a:tcPr>
                </a:tc>
                <a:tc>
                  <a:txBody>
                    <a:bodyPr/>
                    <a:lstStyle/>
                    <a:p>
                      <a:pPr>
                        <a:defRPr sz="900" b="1">
                          <a:solidFill>
                            <a:srgbClr val="FFFFFF"/>
                          </a:solidFill>
                        </a:defRPr>
                      </a:pPr>
                      <a:r>
                        <a:t>Doanh thu</a:t>
                      </a:r>
                    </a:p>
                  </a:txBody>
                  <a:tcPr>
                    <a:solidFill>
                      <a:srgbClr val="0A192F"/>
                    </a:solidFill>
                  </a:tcPr>
                </a:tc>
                <a:tc>
                  <a:txBody>
                    <a:bodyPr/>
                    <a:lstStyle/>
                    <a:p>
                      <a:pPr>
                        <a:defRPr sz="900" b="1">
                          <a:solidFill>
                            <a:srgbClr val="FFFFFF"/>
                          </a:solidFill>
                        </a:defRPr>
                      </a:pPr>
                      <a:r>
                        <a:t>Tỷ trọng</a:t>
                      </a:r>
                    </a:p>
                  </a:txBody>
                  <a:tcPr>
                    <a:solidFill>
                      <a:srgbClr val="0A192F"/>
                    </a:solidFill>
                  </a:tcPr>
                </a:tc>
                <a:tc>
                  <a:txBody>
                    <a:bodyPr/>
                    <a:lstStyle/>
                    <a:p>
                      <a:pPr>
                        <a:defRPr sz="900" b="1">
                          <a:solidFill>
                            <a:srgbClr val="FFFFFF"/>
                          </a:solidFill>
                        </a:defRPr>
                      </a:pPr>
                      <a:r>
                        <a:t>AOV</a:t>
                      </a:r>
                    </a:p>
                  </a:txBody>
                  <a:tcPr>
                    <a:solidFill>
                      <a:srgbClr val="0A192F"/>
                    </a:solidFill>
                  </a:tcPr>
                </a:tc>
                <a:tc>
                  <a:txBody>
                    <a:bodyPr/>
                    <a:lstStyle/>
                    <a:p>
                      <a:pPr>
                        <a:defRPr sz="900" b="1">
                          <a:solidFill>
                            <a:srgbClr val="FFFFFF"/>
                          </a:solidFill>
                        </a:defRPr>
                      </a:pPr>
                      <a:r>
                        <a:t>Tỷ lệ Ship</a:t>
                      </a:r>
                    </a:p>
                  </a:txBody>
                  <a:tcPr>
                    <a:solidFill>
                      <a:srgbClr val="0A192F"/>
                    </a:solidFill>
                  </a:tcPr>
                </a:tc>
              </a:tr>
              <a:tr h="537210">
                <a:tc>
                  <a:txBody>
                    <a:bodyPr/>
                    <a:lstStyle/>
                    <a:p>
                      <a:pPr>
                        <a:defRPr sz="850" b="1">
                          <a:solidFill>
                            <a:srgbClr val="1E3A8A"/>
                          </a:solidFill>
                        </a:defRPr>
                      </a:pPr>
                      <a:r>
                        <a:t>toys</a:t>
                      </a:r>
                    </a:p>
                  </a:txBody>
                  <a:tcPr>
                    <a:solidFill>
                      <a:srgbClr val="F8FAFC"/>
                    </a:solidFill>
                  </a:tcPr>
                </a:tc>
                <a:tc>
                  <a:txBody>
                    <a:bodyPr/>
                    <a:lstStyle/>
                    <a:p>
                      <a:pPr>
                        <a:defRPr sz="850"/>
                      </a:pPr>
                      <a:r>
                        <a:t>67,027</a:t>
                      </a:r>
                    </a:p>
                  </a:txBody>
                  <a:tcPr>
                    <a:solidFill>
                      <a:srgbClr val="F8FAFC"/>
                    </a:solidFill>
                  </a:tcPr>
                </a:tc>
                <a:tc>
                  <a:txBody>
                    <a:bodyPr/>
                    <a:lstStyle/>
                    <a:p>
                      <a:pPr>
                        <a:defRPr sz="850"/>
                      </a:pPr>
                      <a:r>
                        <a:t>$22.99M</a:t>
                      </a:r>
                    </a:p>
                  </a:txBody>
                  <a:tcPr>
                    <a:solidFill>
                      <a:srgbClr val="F8FAFC"/>
                    </a:solidFill>
                  </a:tcPr>
                </a:tc>
                <a:tc>
                  <a:txBody>
                    <a:bodyPr/>
                    <a:lstStyle/>
                    <a:p>
                      <a:pPr>
                        <a:defRPr sz="850"/>
                      </a:pPr>
                      <a:r>
                        <a:t>75.52%</a:t>
                      </a:r>
                    </a:p>
                  </a:txBody>
                  <a:tcPr>
                    <a:solidFill>
                      <a:srgbClr val="F8FAFC"/>
                    </a:solidFill>
                  </a:tcPr>
                </a:tc>
                <a:tc>
                  <a:txBody>
                    <a:bodyPr/>
                    <a:lstStyle/>
                    <a:p>
                      <a:pPr>
                        <a:defRPr sz="850"/>
                      </a:pPr>
                      <a:r>
                        <a:t>$343.07</a:t>
                      </a:r>
                    </a:p>
                  </a:txBody>
                  <a:tcPr>
                    <a:solidFill>
                      <a:srgbClr val="F8FAFC"/>
                    </a:solidFill>
                  </a:tcPr>
                </a:tc>
                <a:tc>
                  <a:txBody>
                    <a:bodyPr/>
                    <a:lstStyle/>
                    <a:p>
                      <a:pPr>
                        <a:defRPr sz="850"/>
                      </a:pPr>
                      <a:r>
                        <a:t>12.99%</a:t>
                      </a:r>
                    </a:p>
                  </a:txBody>
                  <a:tcPr>
                    <a:solidFill>
                      <a:srgbClr val="F8FAFC"/>
                    </a:solidFill>
                  </a:tcPr>
                </a:tc>
              </a:tr>
              <a:tr h="537210">
                <a:tc>
                  <a:txBody>
                    <a:bodyPr/>
                    <a:lstStyle/>
                    <a:p>
                      <a:pPr>
                        <a:defRPr sz="850"/>
                      </a:pPr>
                      <a:r>
                        <a:t>furniture_decor</a:t>
                      </a:r>
                    </a:p>
                  </a:txBody>
                  <a:tcPr>
                    <a:solidFill>
                      <a:srgbClr val="FFFFFF"/>
                    </a:solidFill>
                  </a:tcPr>
                </a:tc>
                <a:tc>
                  <a:txBody>
                    <a:bodyPr/>
                    <a:lstStyle/>
                    <a:p>
                      <a:pPr>
                        <a:defRPr sz="850"/>
                      </a:pPr>
                      <a:r>
                        <a:t>1,760</a:t>
                      </a:r>
                    </a:p>
                  </a:txBody>
                  <a:tcPr>
                    <a:solidFill>
                      <a:srgbClr val="FFFFFF"/>
                    </a:solidFill>
                  </a:tcPr>
                </a:tc>
                <a:tc>
                  <a:txBody>
                    <a:bodyPr/>
                    <a:lstStyle/>
                    <a:p>
                      <a:pPr>
                        <a:defRPr sz="850"/>
                      </a:pPr>
                      <a:r>
                        <a:t>$753.07K</a:t>
                      </a:r>
                    </a:p>
                  </a:txBody>
                  <a:tcPr>
                    <a:solidFill>
                      <a:srgbClr val="FFFFFF"/>
                    </a:solidFill>
                  </a:tcPr>
                </a:tc>
                <a:tc>
                  <a:txBody>
                    <a:bodyPr/>
                    <a:lstStyle/>
                    <a:p>
                      <a:pPr>
                        <a:defRPr sz="850"/>
                      </a:pPr>
                      <a:r>
                        <a:t>2.47%</a:t>
                      </a:r>
                    </a:p>
                  </a:txBody>
                  <a:tcPr>
                    <a:solidFill>
                      <a:srgbClr val="FFFFFF"/>
                    </a:solidFill>
                  </a:tcPr>
                </a:tc>
                <a:tc>
                  <a:txBody>
                    <a:bodyPr/>
                    <a:lstStyle/>
                    <a:p>
                      <a:pPr>
                        <a:defRPr sz="850"/>
                      </a:pPr>
                      <a:r>
                        <a:t>$427.88</a:t>
                      </a:r>
                    </a:p>
                  </a:txBody>
                  <a:tcPr>
                    <a:solidFill>
                      <a:srgbClr val="FFFFFF"/>
                    </a:solidFill>
                  </a:tcPr>
                </a:tc>
                <a:tc>
                  <a:txBody>
                    <a:bodyPr/>
                    <a:lstStyle/>
                    <a:p>
                      <a:pPr>
                        <a:defRPr sz="850"/>
                      </a:pPr>
                      <a:r>
                        <a:t>10.49%</a:t>
                      </a:r>
                    </a:p>
                  </a:txBody>
                  <a:tcPr>
                    <a:solidFill>
                      <a:srgbClr val="FFFFFF"/>
                    </a:solidFill>
                  </a:tcPr>
                </a:tc>
              </a:tr>
              <a:tr h="537210">
                <a:tc>
                  <a:txBody>
                    <a:bodyPr/>
                    <a:lstStyle/>
                    <a:p>
                      <a:pPr>
                        <a:defRPr sz="850"/>
                      </a:pPr>
                      <a:r>
                        <a:t>garden_tools</a:t>
                      </a:r>
                    </a:p>
                  </a:txBody>
                  <a:tcPr>
                    <a:solidFill>
                      <a:srgbClr val="F8FAFC"/>
                    </a:solidFill>
                  </a:tcPr>
                </a:tc>
                <a:tc>
                  <a:txBody>
                    <a:bodyPr/>
                    <a:lstStyle/>
                    <a:p>
                      <a:pPr>
                        <a:defRPr sz="850"/>
                      </a:pPr>
                      <a:r>
                        <a:t>807</a:t>
                      </a:r>
                    </a:p>
                  </a:txBody>
                  <a:tcPr>
                    <a:solidFill>
                      <a:srgbClr val="F8FAFC"/>
                    </a:solidFill>
                  </a:tcPr>
                </a:tc>
                <a:tc>
                  <a:txBody>
                    <a:bodyPr/>
                    <a:lstStyle/>
                    <a:p>
                      <a:pPr>
                        <a:defRPr sz="850"/>
                      </a:pPr>
                      <a:r>
                        <a:t>$746.59K</a:t>
                      </a:r>
                    </a:p>
                  </a:txBody>
                  <a:tcPr>
                    <a:solidFill>
                      <a:srgbClr val="F8FAFC"/>
                    </a:solidFill>
                  </a:tcPr>
                </a:tc>
                <a:tc>
                  <a:txBody>
                    <a:bodyPr/>
                    <a:lstStyle/>
                    <a:p>
                      <a:pPr>
                        <a:defRPr sz="850"/>
                      </a:pPr>
                      <a:r>
                        <a:t>2.45%</a:t>
                      </a:r>
                    </a:p>
                  </a:txBody>
                  <a:tcPr>
                    <a:solidFill>
                      <a:srgbClr val="F8FAFC"/>
                    </a:solidFill>
                  </a:tcPr>
                </a:tc>
                <a:tc>
                  <a:txBody>
                    <a:bodyPr/>
                    <a:lstStyle/>
                    <a:p>
                      <a:pPr>
                        <a:defRPr sz="850"/>
                      </a:pPr>
                      <a:r>
                        <a:t>$925.14</a:t>
                      </a:r>
                    </a:p>
                  </a:txBody>
                  <a:tcPr>
                    <a:solidFill>
                      <a:srgbClr val="F8FAFC"/>
                    </a:solidFill>
                  </a:tcPr>
                </a:tc>
                <a:tc>
                  <a:txBody>
                    <a:bodyPr/>
                    <a:lstStyle/>
                    <a:p>
                      <a:pPr>
                        <a:defRPr sz="850"/>
                      </a:pPr>
                      <a:r>
                        <a:t>4.52%</a:t>
                      </a:r>
                    </a:p>
                  </a:txBody>
                  <a:tcPr>
                    <a:solidFill>
                      <a:srgbClr val="F8FAFC"/>
                    </a:solidFill>
                  </a:tcPr>
                </a:tc>
              </a:tr>
              <a:tr h="537210">
                <a:tc>
                  <a:txBody>
                    <a:bodyPr/>
                    <a:lstStyle/>
                    <a:p>
                      <a:pPr>
                        <a:defRPr sz="850"/>
                      </a:pPr>
                      <a:r>
                        <a:t>bed_bath_table</a:t>
                      </a:r>
                    </a:p>
                  </a:txBody>
                  <a:tcPr>
                    <a:solidFill>
                      <a:srgbClr val="FFFFFF"/>
                    </a:solidFill>
                  </a:tcPr>
                </a:tc>
                <a:tc>
                  <a:txBody>
                    <a:bodyPr/>
                    <a:lstStyle/>
                    <a:p>
                      <a:pPr>
                        <a:defRPr sz="850"/>
                      </a:pPr>
                      <a:r>
                        <a:t>2,146</a:t>
                      </a:r>
                    </a:p>
                  </a:txBody>
                  <a:tcPr>
                    <a:solidFill>
                      <a:srgbClr val="FFFFFF"/>
                    </a:solidFill>
                  </a:tcPr>
                </a:tc>
                <a:tc>
                  <a:txBody>
                    <a:bodyPr/>
                    <a:lstStyle/>
                    <a:p>
                      <a:pPr>
                        <a:defRPr sz="850"/>
                      </a:pPr>
                      <a:r>
                        <a:t>$604.53K</a:t>
                      </a:r>
                    </a:p>
                  </a:txBody>
                  <a:tcPr>
                    <a:solidFill>
                      <a:srgbClr val="FFFFFF"/>
                    </a:solidFill>
                  </a:tcPr>
                </a:tc>
                <a:tc>
                  <a:txBody>
                    <a:bodyPr/>
                    <a:lstStyle/>
                    <a:p>
                      <a:pPr>
                        <a:defRPr sz="850"/>
                      </a:pPr>
                      <a:r>
                        <a:t>1.99%</a:t>
                      </a:r>
                    </a:p>
                  </a:txBody>
                  <a:tcPr>
                    <a:solidFill>
                      <a:srgbClr val="FFFFFF"/>
                    </a:solidFill>
                  </a:tcPr>
                </a:tc>
                <a:tc>
                  <a:txBody>
                    <a:bodyPr/>
                    <a:lstStyle/>
                    <a:p>
                      <a:pPr>
                        <a:defRPr sz="850"/>
                      </a:pPr>
                      <a:r>
                        <a:t>$281.70</a:t>
                      </a:r>
                    </a:p>
                  </a:txBody>
                  <a:tcPr>
                    <a:solidFill>
                      <a:srgbClr val="FFFFFF"/>
                    </a:solidFill>
                  </a:tcPr>
                </a:tc>
                <a:tc>
                  <a:txBody>
                    <a:bodyPr/>
                    <a:lstStyle/>
                    <a:p>
                      <a:pPr>
                        <a:defRPr sz="850" b="1">
                          <a:solidFill>
                            <a:srgbClr val="EF4444"/>
                          </a:solidFill>
                        </a:defRPr>
                      </a:pPr>
                      <a:r>
                        <a:t>15.74% ⚠️</a:t>
                      </a:r>
                    </a:p>
                  </a:txBody>
                  <a:tcPr>
                    <a:solidFill>
                      <a:srgbClr val="FFFFFF"/>
                    </a:solidFill>
                  </a:tcPr>
                </a:tc>
              </a:tr>
              <a:tr h="537210">
                <a:tc>
                  <a:txBody>
                    <a:bodyPr/>
                    <a:lstStyle/>
                    <a:p>
                      <a:pPr>
                        <a:defRPr sz="850"/>
                      </a:pPr>
                      <a:r>
                        <a:t>health_beauty</a:t>
                      </a:r>
                    </a:p>
                  </a:txBody>
                  <a:tcPr>
                    <a:solidFill>
                      <a:srgbClr val="F8FAFC"/>
                    </a:solidFill>
                  </a:tcPr>
                </a:tc>
                <a:tc>
                  <a:txBody>
                    <a:bodyPr/>
                    <a:lstStyle/>
                    <a:p>
                      <a:pPr>
                        <a:defRPr sz="850"/>
                      </a:pPr>
                      <a:r>
                        <a:t>2,351</a:t>
                      </a:r>
                    </a:p>
                  </a:txBody>
                  <a:tcPr>
                    <a:solidFill>
                      <a:srgbClr val="F8FAFC"/>
                    </a:solidFill>
                  </a:tcPr>
                </a:tc>
                <a:tc>
                  <a:txBody>
                    <a:bodyPr/>
                    <a:lstStyle/>
                    <a:p>
                      <a:pPr>
                        <a:defRPr sz="850"/>
                      </a:pPr>
                      <a:r>
                        <a:t>$596.72K</a:t>
                      </a:r>
                    </a:p>
                  </a:txBody>
                  <a:tcPr>
                    <a:solidFill>
                      <a:srgbClr val="F8FAFC"/>
                    </a:solidFill>
                  </a:tcPr>
                </a:tc>
                <a:tc>
                  <a:txBody>
                    <a:bodyPr/>
                    <a:lstStyle/>
                    <a:p>
                      <a:pPr>
                        <a:defRPr sz="850"/>
                      </a:pPr>
                      <a:r>
                        <a:t>1.96%</a:t>
                      </a:r>
                    </a:p>
                  </a:txBody>
                  <a:tcPr>
                    <a:solidFill>
                      <a:srgbClr val="F8FAFC"/>
                    </a:solidFill>
                  </a:tcPr>
                </a:tc>
                <a:tc>
                  <a:txBody>
                    <a:bodyPr/>
                    <a:lstStyle/>
                    <a:p>
                      <a:pPr>
                        <a:defRPr sz="850"/>
                      </a:pPr>
                      <a:r>
                        <a:t>$253.82</a:t>
                      </a:r>
                    </a:p>
                  </a:txBody>
                  <a:tcPr>
                    <a:solidFill>
                      <a:srgbClr val="F8FAFC"/>
                    </a:solidFill>
                  </a:tcPr>
                </a:tc>
                <a:tc>
                  <a:txBody>
                    <a:bodyPr/>
                    <a:lstStyle/>
                    <a:p>
                      <a:pPr>
                        <a:defRPr sz="850" b="1">
                          <a:solidFill>
                            <a:srgbClr val="EF4444"/>
                          </a:solidFill>
                        </a:defRPr>
                      </a:pPr>
                      <a:r>
                        <a:t>16.89% ⚠️</a:t>
                      </a:r>
                    </a:p>
                  </a:txBody>
                  <a:tcPr>
                    <a:solidFill>
                      <a:srgbClr val="F8FAFC"/>
                    </a:solidFill>
                  </a:tcPr>
                </a:tc>
              </a:tr>
              <a:tr h="537210">
                <a:tc>
                  <a:txBody>
                    <a:bodyPr/>
                    <a:lstStyle/>
                    <a:p>
                      <a:pPr>
                        <a:defRPr sz="850"/>
                      </a:pPr>
                      <a:r>
                        <a:t>watches_gifts</a:t>
                      </a:r>
                    </a:p>
                  </a:txBody>
                  <a:tcPr>
                    <a:solidFill>
                      <a:srgbClr val="FFFFFF"/>
                    </a:solidFill>
                  </a:tcPr>
                </a:tc>
                <a:tc>
                  <a:txBody>
                    <a:bodyPr/>
                    <a:lstStyle/>
                    <a:p>
                      <a:pPr>
                        <a:defRPr sz="850"/>
                      </a:pPr>
                      <a:r>
                        <a:t>1,196</a:t>
                      </a:r>
                    </a:p>
                  </a:txBody>
                  <a:tcPr>
                    <a:solidFill>
                      <a:srgbClr val="FFFFFF"/>
                    </a:solidFill>
                  </a:tcPr>
                </a:tc>
                <a:tc>
                  <a:txBody>
                    <a:bodyPr/>
                    <a:lstStyle/>
                    <a:p>
                      <a:pPr>
                        <a:defRPr sz="850"/>
                      </a:pPr>
                      <a:r>
                        <a:t>$584.22K</a:t>
                      </a:r>
                    </a:p>
                  </a:txBody>
                  <a:tcPr>
                    <a:solidFill>
                      <a:srgbClr val="FFFFFF"/>
                    </a:solidFill>
                  </a:tcPr>
                </a:tc>
                <a:tc>
                  <a:txBody>
                    <a:bodyPr/>
                    <a:lstStyle/>
                    <a:p>
                      <a:pPr>
                        <a:defRPr sz="850"/>
                      </a:pPr>
                      <a:r>
                        <a:t>1.92%</a:t>
                      </a:r>
                    </a:p>
                  </a:txBody>
                  <a:tcPr>
                    <a:solidFill>
                      <a:srgbClr val="FFFFFF"/>
                    </a:solidFill>
                  </a:tcPr>
                </a:tc>
                <a:tc>
                  <a:txBody>
                    <a:bodyPr/>
                    <a:lstStyle/>
                    <a:p>
                      <a:pPr>
                        <a:defRPr sz="850"/>
                      </a:pPr>
                      <a:r>
                        <a:t>$488.48</a:t>
                      </a:r>
                    </a:p>
                  </a:txBody>
                  <a:tcPr>
                    <a:solidFill>
                      <a:srgbClr val="FFFFFF"/>
                    </a:solidFill>
                  </a:tcPr>
                </a:tc>
                <a:tc>
                  <a:txBody>
                    <a:bodyPr/>
                    <a:lstStyle/>
                    <a:p>
                      <a:pPr>
                        <a:defRPr sz="850"/>
                      </a:pPr>
                      <a:r>
                        <a:t>8.91%</a:t>
                      </a:r>
                    </a:p>
                  </a:txBody>
                  <a:tcPr>
                    <a:solidFill>
                      <a:srgbClr val="FFFFFF"/>
                    </a:solidFill>
                  </a:tcPr>
                </a:tc>
              </a:tr>
              <a:tr h="537210">
                <a:tc>
                  <a:txBody>
                    <a:bodyPr/>
                    <a:lstStyle/>
                    <a:p>
                      <a:pPr>
                        <a:defRPr sz="850"/>
                      </a:pPr>
                      <a:r>
                        <a:t>computers_acc</a:t>
                      </a:r>
                    </a:p>
                  </a:txBody>
                  <a:tcPr>
                    <a:solidFill>
                      <a:srgbClr val="F8FAFC"/>
                    </a:solidFill>
                  </a:tcPr>
                </a:tc>
                <a:tc>
                  <a:txBody>
                    <a:bodyPr/>
                    <a:lstStyle/>
                    <a:p>
                      <a:pPr>
                        <a:defRPr sz="850"/>
                      </a:pPr>
                      <a:r>
                        <a:t>1,715</a:t>
                      </a:r>
                    </a:p>
                  </a:txBody>
                  <a:tcPr>
                    <a:solidFill>
                      <a:srgbClr val="F8FAFC"/>
                    </a:solidFill>
                  </a:tcPr>
                </a:tc>
                <a:tc>
                  <a:txBody>
                    <a:bodyPr/>
                    <a:lstStyle/>
                    <a:p>
                      <a:pPr>
                        <a:defRPr sz="850"/>
                      </a:pPr>
                      <a:r>
                        <a:t>$430.53K</a:t>
                      </a:r>
                    </a:p>
                  </a:txBody>
                  <a:tcPr>
                    <a:solidFill>
                      <a:srgbClr val="F8FAFC"/>
                    </a:solidFill>
                  </a:tcPr>
                </a:tc>
                <a:tc>
                  <a:txBody>
                    <a:bodyPr/>
                    <a:lstStyle/>
                    <a:p>
                      <a:pPr>
                        <a:defRPr sz="850"/>
                      </a:pPr>
                      <a:r>
                        <a:t>1.41%</a:t>
                      </a:r>
                    </a:p>
                  </a:txBody>
                  <a:tcPr>
                    <a:solidFill>
                      <a:srgbClr val="F8FAFC"/>
                    </a:solidFill>
                  </a:tcPr>
                </a:tc>
                <a:tc>
                  <a:txBody>
                    <a:bodyPr/>
                    <a:lstStyle/>
                    <a:p>
                      <a:pPr>
                        <a:defRPr sz="850"/>
                      </a:pPr>
                      <a:r>
                        <a:t>$251.04</a:t>
                      </a:r>
                    </a:p>
                  </a:txBody>
                  <a:tcPr>
                    <a:solidFill>
                      <a:srgbClr val="F8FAFC"/>
                    </a:solidFill>
                  </a:tcPr>
                </a:tc>
                <a:tc>
                  <a:txBody>
                    <a:bodyPr/>
                    <a:lstStyle/>
                    <a:p>
                      <a:pPr>
                        <a:defRPr sz="850" b="1">
                          <a:solidFill>
                            <a:srgbClr val="EF4444"/>
                          </a:solidFill>
                        </a:defRPr>
                      </a:pPr>
                      <a:r>
                        <a:t>17.12% 🚨</a:t>
                      </a:r>
                    </a:p>
                  </a:txBody>
                  <a:tcPr>
                    <a:solidFill>
                      <a:srgbClr val="F8FAFC"/>
                    </a:solidFill>
                  </a:tcPr>
                </a:tc>
              </a:tr>
            </a:tbl>
          </a:graphicData>
        </a:graphic>
      </p:graphicFrame>
      <p:sp>
        <p:nvSpPr>
          <p:cNvPr id="8" name="Rounded Rectangle 7"/>
          <p:cNvSpPr/>
          <p:nvPr/>
        </p:nvSpPr>
        <p:spPr>
          <a:xfrm>
            <a:off x="7772400" y="1234440"/>
            <a:ext cx="3687775"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79" y="1371600"/>
            <a:ext cx="3291840" cy="4754880"/>
          </a:xfrm>
          <a:prstGeom prst="rect">
            <a:avLst/>
          </a:prstGeom>
          <a:noFill/>
        </p:spPr>
        <p:txBody>
          <a:bodyPr wrap="square">
            <a:spAutoFit/>
          </a:bodyPr>
          <a:lstStyle/>
          <a:p>
            <a:pPr>
              <a:spcAft>
                <a:spcPts val="1000"/>
              </a:spcAft>
              <a:defRPr sz="1150" b="1">
                <a:solidFill>
                  <a:srgbClr val="1E3A8A"/>
                </a:solidFill>
              </a:defRPr>
            </a:pPr>
            <a:r>
              <a:t>💡 INSIGHT CHIẾN LƯỢC SẢN PHẨM</a:t>
            </a:r>
          </a:p>
          <a:p>
            <a:pPr>
              <a:defRPr sz="950" b="1">
                <a:solidFill>
                  <a:srgbClr val="0A192F"/>
                </a:solidFill>
              </a:defRPr>
            </a:pPr>
            <a:r>
              <a:t>• Ngành Hàng Trụ Cột (Toys):</a:t>
            </a:r>
          </a:p>
          <a:p>
            <a:pPr>
              <a:spcAft>
                <a:spcPts val="600"/>
              </a:spcAft>
              <a:defRPr sz="880">
                <a:solidFill>
                  <a:srgbClr val="0F172A"/>
                </a:solidFill>
              </a:defRPr>
            </a:pPr>
            <a:r>
              <a:t>Chiếm hơn 3/4 quy mô doanh thu ($22.99M). Đóng vai trò sống còn đối với dòng tiền của doanh nghiệp.</a:t>
            </a:r>
          </a:p>
          <a:p>
            <a:pPr>
              <a:defRPr sz="950" b="1">
                <a:solidFill>
                  <a:srgbClr val="0A192F"/>
                </a:solidFill>
              </a:defRPr>
            </a:pPr>
            <a:r>
              <a:t>• Ngành Hàng Siêu Lợi Nhuận (Garden Tools):</a:t>
            </a:r>
          </a:p>
          <a:p>
            <a:pPr>
              <a:spcAft>
                <a:spcPts val="600"/>
              </a:spcAft>
              <a:defRPr sz="880">
                <a:solidFill>
                  <a:srgbClr val="0F172A"/>
                </a:solidFill>
              </a:defRPr>
            </a:pPr>
            <a:r>
              <a:t>AOV đạt kỷ lục $925.14, trong khi cước vận chuyển chỉ chiếm 4.52% (ngưỡng tối ưu tuyệt đối). Cần mở rộng quy mô Marketing.</a:t>
            </a:r>
          </a:p>
          <a:p>
            <a:pPr>
              <a:defRPr sz="950" b="1">
                <a:solidFill>
                  <a:srgbClr val="0A192F"/>
                </a:solidFill>
              </a:defRPr>
            </a:pPr>
            <a:r>
              <a:t>• Báo Động Đỏ Xói Mòn Lợi Nhuận:</a:t>
            </a:r>
          </a:p>
          <a:p>
            <a:pPr>
              <a:spcAft>
                <a:spcPts val="600"/>
              </a:spcAft>
              <a:defRPr sz="880">
                <a:solidFill>
                  <a:srgbClr val="0F172A"/>
                </a:solidFill>
              </a:defRPr>
            </a:pPr>
            <a:r>
              <a:t>Phụ kiện máy tính (17.12%), Mỹ phẩm (16.89%), và Đồ gia dụng vải (15.74%) đang bị cước vận chuyển ăn mòn lợi nhuận nghiêm trọng.</a:t>
            </a:r>
          </a:p>
          <a:p>
            <a:pPr>
              <a:defRPr sz="950" b="1">
                <a:solidFill>
                  <a:srgbClr val="0A192F"/>
                </a:solidFill>
              </a:defRPr>
            </a:pPr>
            <a:r>
              <a:t>• Động Lực Thanh Toán (Payments):</a:t>
            </a:r>
          </a:p>
          <a:p>
            <a:pPr>
              <a:spcAft>
                <a:spcPts val="600"/>
              </a:spcAft>
              <a:defRPr sz="880">
                <a:solidFill>
                  <a:srgbClr val="0F172A"/>
                </a:solidFill>
              </a:defRPr>
            </a:pPr>
            <a:r>
              <a:t>Thẻ tín dụng (Credit Card) chiếm 72.65% doanh thu ($22.12M) nhờ chính sách chia nhỏ kỳ trả góp trung bình 3.67 kỳ.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777240"/>
          </a:xfrm>
          <a:prstGeom prst="rect">
            <a:avLst/>
          </a:prstGeom>
          <a:noFill/>
        </p:spPr>
        <p:txBody>
          <a:bodyPr wrap="square" lIns="0" tIns="0" rIns="0" bIns="0">
            <a:spAutoFit/>
          </a:bodyPr>
          <a:lstStyle/>
          <a:p>
            <a:pPr>
              <a:defRPr sz="950" b="1">
                <a:solidFill>
                  <a:srgbClr val="F59E0B"/>
                </a:solidFill>
              </a:defRPr>
            </a:pPr>
            <a:r>
              <a:t>PHẦN 5: CUSTOMER BEHAVIOR &amp; RETENTION</a:t>
            </a:r>
          </a:p>
          <a:p>
            <a:pPr>
              <a:defRPr sz="1700" b="1">
                <a:solidFill>
                  <a:srgbClr val="FFFFFF"/>
                </a:solidFill>
              </a:defRPr>
            </a:pPr>
            <a:r>
              <a:t>TRỤ CỘT 2: HÀNH VI KHÁCH HÀNG &amp; PHÂN KHÚC RFM NÂNG CAO</a:t>
            </a:r>
          </a:p>
        </p:txBody>
      </p:sp>
      <p:sp>
        <p:nvSpPr>
          <p:cNvPr id="5" name="Rounded Rectangle 4"/>
          <p:cNvSpPr/>
          <p:nvPr/>
        </p:nvSpPr>
        <p:spPr>
          <a:xfrm>
            <a:off x="731520" y="123444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4846320" cy="4754880"/>
          </a:xfrm>
          <a:prstGeom prst="rect">
            <a:avLst/>
          </a:prstGeom>
          <a:noFill/>
        </p:spPr>
        <p:txBody>
          <a:bodyPr wrap="square">
            <a:spAutoFit/>
          </a:bodyPr>
          <a:lstStyle/>
          <a:p>
            <a:pPr>
              <a:spcAft>
                <a:spcPts val="1000"/>
              </a:spcAft>
              <a:defRPr sz="1150" b="1">
                <a:solidFill>
                  <a:srgbClr val="1E3A8A"/>
                </a:solidFill>
              </a:defRPr>
            </a:pPr>
            <a:r>
              <a:t>🎯 ĐỐI CHIẾU 2 MÔ HÌNH PHÂN KHÚC KHÁCH HÀNG</a:t>
            </a:r>
          </a:p>
          <a:p>
            <a:pPr>
              <a:defRPr sz="1000" b="1">
                <a:solidFill>
                  <a:srgbClr val="EF4444"/>
                </a:solidFill>
              </a:defRPr>
            </a:pPr>
            <a:r>
              <a:t>1. Mô hình Barem Chuẩn Đề Bài (Standard DAX):</a:t>
            </a:r>
          </a:p>
          <a:p>
            <a:pPr>
              <a:spcAft>
                <a:spcPts val="1000"/>
              </a:spcAft>
              <a:defRPr sz="880">
                <a:solidFill>
                  <a:srgbClr val="0F172A"/>
                </a:solidFill>
              </a:defRPr>
            </a:pPr>
            <a:r>
              <a:t>• Lost / At-Risk: 73,317 khách (82.09%) do Recency &gt; 90 ngày.</a:t>
            </a:r>
            <a:br/>
            <a:r>
              <a:t>• Potential Customer: 15,999 khách (17.91%) mới mua gần đây.</a:t>
            </a:r>
            <a:br/>
            <a:r>
              <a:t>• VIP &amp; Loyal: Ghi nhận 0 khách hàng do cấu trúc bảng gốc phân rã ID theo từng đơn (Single-order tokenization, Total Orders = 1).</a:t>
            </a:r>
          </a:p>
          <a:p>
            <a:pPr>
              <a:defRPr sz="1000" b="1">
                <a:solidFill>
                  <a:srgbClr val="10B981"/>
                </a:solidFill>
              </a:defRPr>
            </a:pPr>
            <a:r>
              <a:t>2. Mô hình Giá Trị Chi Tiêu Cải Tiến (Enhanced Monetary):</a:t>
            </a:r>
          </a:p>
          <a:p>
            <a:pPr>
              <a:defRPr sz="880">
                <a:solidFill>
                  <a:srgbClr val="0F172A"/>
                </a:solidFill>
              </a:defRPr>
            </a:pPr>
            <a:r>
              <a:t>• 1. VIP Customer (High Value): 5,281 khách (5.91%) chi tiêu &gt; $1,000, đóng góp tới $8.12M doanh thu (26.68%).</a:t>
            </a:r>
            <a:br/>
            <a:r>
              <a:t>• 2. Loyal / High-Tier: 14,341 khách (16.06%) chi tiêu $300 - $1,000, đóng góp $7.45M (24.47%).</a:t>
            </a:r>
            <a:br/>
            <a:r>
              <a:t>• 3. Potential Customer: 11,337 khách (12.69%) giao dịch gần đây.</a:t>
            </a:r>
            <a:br/>
            <a:r>
              <a:t>• 4. Lost / At-Risk: 58,357 khách (65.34%) đơn giá thấp và ngừng mua.</a:t>
            </a:r>
          </a:p>
        </p:txBody>
      </p:sp>
      <p:sp>
        <p:nvSpPr>
          <p:cNvPr id="7" name="Rounded Rectangle 6"/>
          <p:cNvSpPr/>
          <p:nvPr/>
        </p:nvSpPr>
        <p:spPr>
          <a:xfrm>
            <a:off x="6126480" y="1234440"/>
            <a:ext cx="5333695"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371600"/>
            <a:ext cx="4937760" cy="4754880"/>
          </a:xfrm>
          <a:prstGeom prst="rect">
            <a:avLst/>
          </a:prstGeom>
          <a:noFill/>
        </p:spPr>
        <p:txBody>
          <a:bodyPr wrap="square">
            <a:spAutoFit/>
          </a:bodyPr>
          <a:lstStyle/>
          <a:p>
            <a:pPr>
              <a:spcAft>
                <a:spcPts val="1000"/>
              </a:spcAft>
              <a:defRPr sz="1150" b="1">
                <a:solidFill>
                  <a:srgbClr val="1E3A8A"/>
                </a:solidFill>
              </a:defRPr>
            </a:pPr>
            <a:r>
              <a:t>💼 CHIẾN LƯỢC CHĂM SÓC THEO PHÂN LỚP (ACTION MATRIX)</a:t>
            </a:r>
          </a:p>
          <a:p>
            <a:pPr>
              <a:defRPr sz="950" b="1">
                <a:solidFill>
                  <a:srgbClr val="2563EB"/>
                </a:solidFill>
              </a:defRPr>
            </a:pPr>
            <a:r>
              <a:t>👑 Nhóm VIP High-Value (5,281 khách hàng - $8.12M Doanh thu):</a:t>
            </a:r>
          </a:p>
          <a:p>
            <a:pPr>
              <a:spcAft>
                <a:spcPts val="600"/>
              </a:spcAft>
              <a:defRPr sz="880">
                <a:solidFill>
                  <a:srgbClr val="0F172A"/>
                </a:solidFill>
              </a:defRPr>
            </a:pPr>
            <a:r>
              <a:t>Tài sản cốt lõi của doanh nghiệp. Thiết lập dịch vụ chăm sóc khách hàng ưu tiên (Dedicated Concierge), tặng quà sinh nhật tri ân và miễn phí đổi trả tận nhà.</a:t>
            </a:r>
          </a:p>
          <a:p>
            <a:pPr>
              <a:defRPr sz="950" b="1">
                <a:solidFill>
                  <a:srgbClr val="2563EB"/>
                </a:solidFill>
              </a:defRPr>
            </a:pPr>
            <a:r>
              <a:t>👑 Nhóm Loyal High-Tier (14,341 khách hàng - $7.45M Doanh thu):</a:t>
            </a:r>
          </a:p>
          <a:p>
            <a:pPr>
              <a:spcAft>
                <a:spcPts val="600"/>
              </a:spcAft>
              <a:defRPr sz="880">
                <a:solidFill>
                  <a:srgbClr val="0F172A"/>
                </a:solidFill>
              </a:defRPr>
            </a:pPr>
            <a:r>
              <a:t>Xây dựng chương trình khách hàng thân thiết tích điểm (Loyalty Points), gửi mã ưu đãi độc quyền để nâng hạng chi tiêu lên mức VIP.</a:t>
            </a:r>
          </a:p>
          <a:p>
            <a:pPr>
              <a:defRPr sz="950" b="1">
                <a:solidFill>
                  <a:srgbClr val="2563EB"/>
                </a:solidFill>
              </a:defRPr>
            </a:pPr>
            <a:r>
              <a:t>👑 Nhóm Potential (11,337 khách hàng mới):</a:t>
            </a:r>
          </a:p>
          <a:p>
            <a:pPr>
              <a:spcAft>
                <a:spcPts val="600"/>
              </a:spcAft>
              <a:defRPr sz="880">
                <a:solidFill>
                  <a:srgbClr val="0F172A"/>
                </a:solidFill>
              </a:defRPr>
            </a:pPr>
            <a:r>
              <a:t>Gửi chuỗi Email Onboarding trong 14 ngày đầu, gợi ý combo sản phẩm cùng loại kèm voucher giảm 10% cho đơn hàng thứ 2.</a:t>
            </a:r>
          </a:p>
          <a:p>
            <a:pPr>
              <a:defRPr sz="950" b="1">
                <a:solidFill>
                  <a:srgbClr val="2563EB"/>
                </a:solidFill>
              </a:defRPr>
            </a:pPr>
            <a:r>
              <a:t>👑 Nhóm Lost / At-Risk (58,357 khách hàng):</a:t>
            </a:r>
          </a:p>
          <a:p>
            <a:pPr>
              <a:spcAft>
                <a:spcPts val="600"/>
              </a:spcAft>
              <a:defRPr sz="880">
                <a:solidFill>
                  <a:srgbClr val="0F172A"/>
                </a:solidFill>
              </a:defRPr>
            </a:pPr>
            <a:r>
              <a:t>Triển khai chiến dịch Win-Back Campaign định kỳ tự động bằng SMS &amp; Email Marketing với mã Freeship giới hạn 7 ngày.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777240"/>
          </a:xfrm>
          <a:prstGeom prst="rect">
            <a:avLst/>
          </a:prstGeom>
          <a:noFill/>
        </p:spPr>
        <p:txBody>
          <a:bodyPr wrap="square" lIns="0" tIns="0" rIns="0" bIns="0">
            <a:spAutoFit/>
          </a:bodyPr>
          <a:lstStyle/>
          <a:p>
            <a:pPr>
              <a:defRPr sz="950" b="1">
                <a:solidFill>
                  <a:srgbClr val="F59E0B"/>
                </a:solidFill>
              </a:defRPr>
            </a:pPr>
            <a:r>
              <a:t>PHẦN 6: LAST-MILE LOGISTICS OPERATIONS</a:t>
            </a:r>
          </a:p>
          <a:p>
            <a:pPr>
              <a:defRPr sz="1700" b="1">
                <a:solidFill>
                  <a:srgbClr val="FFFFFF"/>
                </a:solidFill>
              </a:defRPr>
            </a:pPr>
            <a:r>
              <a:t>TRỤ CỘT 3: VẬN HÀNH CHUỖI CUNG ỨNG &amp; ĐIỂM NGHẼN LOGISTICS</a:t>
            </a:r>
          </a:p>
        </p:txBody>
      </p:sp>
      <p:sp>
        <p:nvSpPr>
          <p:cNvPr id="5" name="Rounded Rectangle 4"/>
          <p:cNvSpPr/>
          <p:nvPr/>
        </p:nvSpPr>
        <p:spPr>
          <a:xfrm>
            <a:off x="731520" y="1234440"/>
            <a:ext cx="685800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6492240" cy="4754880"/>
          </a:xfrm>
          <a:prstGeom prst="rect">
            <a:avLst/>
          </a:prstGeom>
          <a:noFill/>
        </p:spPr>
        <p:txBody>
          <a:bodyPr wrap="square">
            <a:spAutoFit/>
          </a:bodyPr>
          <a:lstStyle/>
          <a:p>
            <a:pPr>
              <a:spcAft>
                <a:spcPts val="1000"/>
              </a:spcAft>
              <a:defRPr sz="1150" b="1">
                <a:solidFill>
                  <a:srgbClr val="1E3A8A"/>
                </a:solidFill>
              </a:defRPr>
            </a:pPr>
            <a:r>
              <a:t>🚚 THỜI GIAN GIAO HÀNG &amp; ĐIỂM NGHẼN VẬN TẢI THEO BANG</a:t>
            </a:r>
          </a:p>
        </p:txBody>
      </p:sp>
      <p:graphicFrame>
        <p:nvGraphicFramePr>
          <p:cNvPr id="7" name="Table 6"/>
          <p:cNvGraphicFramePr>
            <a:graphicFrameLocks noGrp="1"/>
          </p:cNvGraphicFramePr>
          <p:nvPr/>
        </p:nvGraphicFramePr>
        <p:xfrm>
          <a:off x="914400" y="1828800"/>
          <a:ext cx="6492240" cy="4297680"/>
        </p:xfrm>
        <a:graphic>
          <a:graphicData uri="http://schemas.openxmlformats.org/drawingml/2006/table">
            <a:tbl>
              <a:tblPr firstRow="1" bandRow="1">
                <a:tableStyleId>{5C22544A-7EE6-4342-B048-85BDC9FD1C3A}</a:tableStyleId>
              </a:tblPr>
              <a:tblGrid>
                <a:gridCol w="1645920"/>
                <a:gridCol w="822960"/>
                <a:gridCol w="1097280"/>
                <a:gridCol w="914400"/>
                <a:gridCol w="1005840"/>
                <a:gridCol w="1005840"/>
              </a:tblGrid>
              <a:tr h="537210">
                <a:tc>
                  <a:txBody>
                    <a:bodyPr/>
                    <a:lstStyle/>
                    <a:p>
                      <a:pPr>
                        <a:defRPr sz="900" b="1">
                          <a:solidFill>
                            <a:srgbClr val="FFFFFF"/>
                          </a:solidFill>
                        </a:defRPr>
                      </a:pPr>
                      <a:r>
                        <a:t>Bang (State)</a:t>
                      </a:r>
                    </a:p>
                  </a:txBody>
                  <a:tcPr>
                    <a:solidFill>
                      <a:srgbClr val="0A192F"/>
                    </a:solidFill>
                  </a:tcPr>
                </a:tc>
                <a:tc>
                  <a:txBody>
                    <a:bodyPr/>
                    <a:lstStyle/>
                    <a:p>
                      <a:pPr>
                        <a:defRPr sz="900" b="1">
                          <a:solidFill>
                            <a:srgbClr val="FFFFFF"/>
                          </a:solidFill>
                        </a:defRPr>
                      </a:pPr>
                      <a:r>
                        <a:t>Số Đơn</a:t>
                      </a:r>
                    </a:p>
                  </a:txBody>
                  <a:tcPr>
                    <a:solidFill>
                      <a:srgbClr val="0A192F"/>
                    </a:solidFill>
                  </a:tcPr>
                </a:tc>
                <a:tc>
                  <a:txBody>
                    <a:bodyPr/>
                    <a:lstStyle/>
                    <a:p>
                      <a:pPr>
                        <a:defRPr sz="900" b="1">
                          <a:solidFill>
                            <a:srgbClr val="FFFFFF"/>
                          </a:solidFill>
                        </a:defRPr>
                      </a:pPr>
                      <a:r>
                        <a:t>Doanh thu</a:t>
                      </a:r>
                    </a:p>
                  </a:txBody>
                  <a:tcPr>
                    <a:solidFill>
                      <a:srgbClr val="0A192F"/>
                    </a:solidFill>
                  </a:tcPr>
                </a:tc>
                <a:tc>
                  <a:txBody>
                    <a:bodyPr/>
                    <a:lstStyle/>
                    <a:p>
                      <a:pPr>
                        <a:defRPr sz="900" b="1">
                          <a:solidFill>
                            <a:srgbClr val="FFFFFF"/>
                          </a:solidFill>
                        </a:defRPr>
                      </a:pPr>
                      <a:r>
                        <a:t>Tỷ trọng</a:t>
                      </a:r>
                    </a:p>
                  </a:txBody>
                  <a:tcPr>
                    <a:solidFill>
                      <a:srgbClr val="0A192F"/>
                    </a:solidFill>
                  </a:tcPr>
                </a:tc>
                <a:tc>
                  <a:txBody>
                    <a:bodyPr/>
                    <a:lstStyle/>
                    <a:p>
                      <a:pPr>
                        <a:defRPr sz="900" b="1">
                          <a:solidFill>
                            <a:srgbClr val="FFFFFF"/>
                          </a:solidFill>
                        </a:defRPr>
                      </a:pPr>
                      <a:r>
                        <a:t>Lead Time</a:t>
                      </a:r>
                    </a:p>
                  </a:txBody>
                  <a:tcPr>
                    <a:solidFill>
                      <a:srgbClr val="0A192F"/>
                    </a:solidFill>
                  </a:tcPr>
                </a:tc>
                <a:tc>
                  <a:txBody>
                    <a:bodyPr/>
                    <a:lstStyle/>
                    <a:p>
                      <a:pPr>
                        <a:defRPr sz="900" b="1">
                          <a:solidFill>
                            <a:srgbClr val="FFFFFF"/>
                          </a:solidFill>
                        </a:defRPr>
                      </a:pPr>
                      <a:r>
                        <a:t>Đúng hạn</a:t>
                      </a:r>
                    </a:p>
                  </a:txBody>
                  <a:tcPr>
                    <a:solidFill>
                      <a:srgbClr val="0A192F"/>
                    </a:solidFill>
                  </a:tcPr>
                </a:tc>
              </a:tr>
              <a:tr h="537210">
                <a:tc>
                  <a:txBody>
                    <a:bodyPr/>
                    <a:lstStyle/>
                    <a:p>
                      <a:pPr>
                        <a:defRPr sz="850"/>
                      </a:pPr>
                      <a:r>
                        <a:t>SP (São Paulo)</a:t>
                      </a:r>
                    </a:p>
                  </a:txBody>
                  <a:tcPr>
                    <a:solidFill>
                      <a:srgbClr val="F8FAFC"/>
                    </a:solidFill>
                  </a:tcPr>
                </a:tc>
                <a:tc>
                  <a:txBody>
                    <a:bodyPr/>
                    <a:lstStyle/>
                    <a:p>
                      <a:pPr>
                        <a:defRPr sz="850"/>
                      </a:pPr>
                      <a:r>
                        <a:t>37,879</a:t>
                      </a:r>
                    </a:p>
                  </a:txBody>
                  <a:tcPr>
                    <a:solidFill>
                      <a:srgbClr val="F8FAFC"/>
                    </a:solidFill>
                  </a:tcPr>
                </a:tc>
                <a:tc>
                  <a:txBody>
                    <a:bodyPr/>
                    <a:lstStyle/>
                    <a:p>
                      <a:pPr>
                        <a:defRPr sz="850"/>
                      </a:pPr>
                      <a:r>
                        <a:t>$12.94M</a:t>
                      </a:r>
                    </a:p>
                  </a:txBody>
                  <a:tcPr>
                    <a:solidFill>
                      <a:srgbClr val="F8FAFC"/>
                    </a:solidFill>
                  </a:tcPr>
                </a:tc>
                <a:tc>
                  <a:txBody>
                    <a:bodyPr/>
                    <a:lstStyle/>
                    <a:p>
                      <a:pPr>
                        <a:defRPr sz="850"/>
                      </a:pPr>
                      <a:r>
                        <a:t>42.49%</a:t>
                      </a:r>
                    </a:p>
                  </a:txBody>
                  <a:tcPr>
                    <a:solidFill>
                      <a:srgbClr val="F8FAFC"/>
                    </a:solidFill>
                  </a:tcPr>
                </a:tc>
                <a:tc>
                  <a:txBody>
                    <a:bodyPr/>
                    <a:lstStyle/>
                    <a:p>
                      <a:pPr>
                        <a:defRPr sz="850"/>
                      </a:pPr>
                      <a:r>
                        <a:t>8.70 ngày</a:t>
                      </a:r>
                    </a:p>
                  </a:txBody>
                  <a:tcPr>
                    <a:solidFill>
                      <a:srgbClr val="F8FAFC"/>
                    </a:solidFill>
                  </a:tcPr>
                </a:tc>
                <a:tc>
                  <a:txBody>
                    <a:bodyPr/>
                    <a:lstStyle/>
                    <a:p>
                      <a:pPr>
                        <a:defRPr sz="850" b="1">
                          <a:solidFill>
                            <a:srgbClr val="10B981"/>
                          </a:solidFill>
                        </a:defRPr>
                      </a:pPr>
                      <a:r>
                        <a:t>10.33% ⭐</a:t>
                      </a:r>
                    </a:p>
                  </a:txBody>
                  <a:tcPr>
                    <a:solidFill>
                      <a:srgbClr val="F8FAFC"/>
                    </a:solidFill>
                  </a:tcPr>
                </a:tc>
              </a:tr>
              <a:tr h="537210">
                <a:tc>
                  <a:txBody>
                    <a:bodyPr/>
                    <a:lstStyle/>
                    <a:p>
                      <a:pPr>
                        <a:defRPr sz="850"/>
                      </a:pPr>
                      <a:r>
                        <a:t>RJ (Rio de Janeiro)</a:t>
                      </a:r>
                    </a:p>
                  </a:txBody>
                  <a:tcPr>
                    <a:solidFill>
                      <a:srgbClr val="FFFFFF"/>
                    </a:solidFill>
                  </a:tcPr>
                </a:tc>
                <a:tc>
                  <a:txBody>
                    <a:bodyPr/>
                    <a:lstStyle/>
                    <a:p>
                      <a:pPr>
                        <a:defRPr sz="850"/>
                      </a:pPr>
                      <a:r>
                        <a:t>11,578</a:t>
                      </a:r>
                    </a:p>
                  </a:txBody>
                  <a:tcPr>
                    <a:solidFill>
                      <a:srgbClr val="FFFFFF"/>
                    </a:solidFill>
                  </a:tcPr>
                </a:tc>
                <a:tc>
                  <a:txBody>
                    <a:bodyPr/>
                    <a:lstStyle/>
                    <a:p>
                      <a:pPr>
                        <a:defRPr sz="850"/>
                      </a:pPr>
                      <a:r>
                        <a:t>$3.85M</a:t>
                      </a:r>
                    </a:p>
                  </a:txBody>
                  <a:tcPr>
                    <a:solidFill>
                      <a:srgbClr val="FFFFFF"/>
                    </a:solidFill>
                  </a:tcPr>
                </a:tc>
                <a:tc>
                  <a:txBody>
                    <a:bodyPr/>
                    <a:lstStyle/>
                    <a:p>
                      <a:pPr>
                        <a:defRPr sz="850"/>
                      </a:pPr>
                      <a:r>
                        <a:t>12.65%</a:t>
                      </a:r>
                    </a:p>
                  </a:txBody>
                  <a:tcPr>
                    <a:solidFill>
                      <a:srgbClr val="FFFFFF"/>
                    </a:solidFill>
                  </a:tcPr>
                </a:tc>
                <a:tc>
                  <a:txBody>
                    <a:bodyPr/>
                    <a:lstStyle/>
                    <a:p>
                      <a:pPr>
                        <a:defRPr sz="850" b="1">
                          <a:solidFill>
                            <a:srgbClr val="EF4444"/>
                          </a:solidFill>
                        </a:defRPr>
                      </a:pPr>
                      <a:r>
                        <a:t>15.21 ngày ⚠️</a:t>
                      </a:r>
                    </a:p>
                  </a:txBody>
                  <a:tcPr>
                    <a:solidFill>
                      <a:srgbClr val="FFFFFF"/>
                    </a:solidFill>
                  </a:tcPr>
                </a:tc>
                <a:tc>
                  <a:txBody>
                    <a:bodyPr/>
                    <a:lstStyle/>
                    <a:p>
                      <a:pPr>
                        <a:defRPr sz="850"/>
                      </a:pPr>
                      <a:r>
                        <a:t>1.80%</a:t>
                      </a:r>
                    </a:p>
                  </a:txBody>
                  <a:tcPr>
                    <a:solidFill>
                      <a:srgbClr val="FFFFFF"/>
                    </a:solidFill>
                  </a:tcPr>
                </a:tc>
              </a:tr>
              <a:tr h="537210">
                <a:tc>
                  <a:txBody>
                    <a:bodyPr/>
                    <a:lstStyle/>
                    <a:p>
                      <a:pPr>
                        <a:defRPr sz="850"/>
                      </a:pPr>
                      <a:r>
                        <a:t>MG (Minas Gerais)</a:t>
                      </a:r>
                    </a:p>
                  </a:txBody>
                  <a:tcPr>
                    <a:solidFill>
                      <a:srgbClr val="F8FAFC"/>
                    </a:solidFill>
                  </a:tcPr>
                </a:tc>
                <a:tc>
                  <a:txBody>
                    <a:bodyPr/>
                    <a:lstStyle/>
                    <a:p>
                      <a:pPr>
                        <a:defRPr sz="850"/>
                      </a:pPr>
                      <a:r>
                        <a:t>10,334</a:t>
                      </a:r>
                    </a:p>
                  </a:txBody>
                  <a:tcPr>
                    <a:solidFill>
                      <a:srgbClr val="F8FAFC"/>
                    </a:solidFill>
                  </a:tcPr>
                </a:tc>
                <a:tc>
                  <a:txBody>
                    <a:bodyPr/>
                    <a:lstStyle/>
                    <a:p>
                      <a:pPr>
                        <a:defRPr sz="850"/>
                      </a:pPr>
                      <a:r>
                        <a:t>$3.50M</a:t>
                      </a:r>
                    </a:p>
                  </a:txBody>
                  <a:tcPr>
                    <a:solidFill>
                      <a:srgbClr val="F8FAFC"/>
                    </a:solidFill>
                  </a:tcPr>
                </a:tc>
                <a:tc>
                  <a:txBody>
                    <a:bodyPr/>
                    <a:lstStyle/>
                    <a:p>
                      <a:pPr>
                        <a:defRPr sz="850"/>
                      </a:pPr>
                      <a:r>
                        <a:t>11.50%</a:t>
                      </a:r>
                    </a:p>
                  </a:txBody>
                  <a:tcPr>
                    <a:solidFill>
                      <a:srgbClr val="F8FAFC"/>
                    </a:solidFill>
                  </a:tcPr>
                </a:tc>
                <a:tc>
                  <a:txBody>
                    <a:bodyPr/>
                    <a:lstStyle/>
                    <a:p>
                      <a:pPr>
                        <a:defRPr sz="850"/>
                      </a:pPr>
                      <a:r>
                        <a:t>11.97 ngày</a:t>
                      </a:r>
                    </a:p>
                  </a:txBody>
                  <a:tcPr>
                    <a:solidFill>
                      <a:srgbClr val="F8FAFC"/>
                    </a:solidFill>
                  </a:tcPr>
                </a:tc>
                <a:tc>
                  <a:txBody>
                    <a:bodyPr/>
                    <a:lstStyle/>
                    <a:p>
                      <a:pPr>
                        <a:defRPr sz="850"/>
                      </a:pPr>
                      <a:r>
                        <a:t>1.45%</a:t>
                      </a:r>
                    </a:p>
                  </a:txBody>
                  <a:tcPr>
                    <a:solidFill>
                      <a:srgbClr val="F8FAFC"/>
                    </a:solidFill>
                  </a:tcPr>
                </a:tc>
              </a:tr>
              <a:tr h="537210">
                <a:tc>
                  <a:txBody>
                    <a:bodyPr/>
                    <a:lstStyle/>
                    <a:p>
                      <a:pPr>
                        <a:defRPr sz="850"/>
                      </a:pPr>
                      <a:r>
                        <a:t>RS (Rio Grande Sul)</a:t>
                      </a:r>
                    </a:p>
                  </a:txBody>
                  <a:tcPr>
                    <a:solidFill>
                      <a:srgbClr val="FFFFFF"/>
                    </a:solidFill>
                  </a:tcPr>
                </a:tc>
                <a:tc>
                  <a:txBody>
                    <a:bodyPr/>
                    <a:lstStyle/>
                    <a:p>
                      <a:pPr>
                        <a:defRPr sz="850"/>
                      </a:pPr>
                      <a:r>
                        <a:t>4,921</a:t>
                      </a:r>
                    </a:p>
                  </a:txBody>
                  <a:tcPr>
                    <a:solidFill>
                      <a:srgbClr val="FFFFFF"/>
                    </a:solidFill>
                  </a:tcPr>
                </a:tc>
                <a:tc>
                  <a:txBody>
                    <a:bodyPr/>
                    <a:lstStyle/>
                    <a:p>
                      <a:pPr>
                        <a:defRPr sz="850"/>
                      </a:pPr>
                      <a:r>
                        <a:t>$1.66M</a:t>
                      </a:r>
                    </a:p>
                  </a:txBody>
                  <a:tcPr>
                    <a:solidFill>
                      <a:srgbClr val="FFFFFF"/>
                    </a:solidFill>
                  </a:tcPr>
                </a:tc>
                <a:tc>
                  <a:txBody>
                    <a:bodyPr/>
                    <a:lstStyle/>
                    <a:p>
                      <a:pPr>
                        <a:defRPr sz="850"/>
                      </a:pPr>
                      <a:r>
                        <a:t>5.46%</a:t>
                      </a:r>
                    </a:p>
                  </a:txBody>
                  <a:tcPr>
                    <a:solidFill>
                      <a:srgbClr val="FFFFFF"/>
                    </a:solidFill>
                  </a:tcPr>
                </a:tc>
                <a:tc>
                  <a:txBody>
                    <a:bodyPr/>
                    <a:lstStyle/>
                    <a:p>
                      <a:pPr>
                        <a:defRPr sz="850" b="1">
                          <a:solidFill>
                            <a:srgbClr val="EF4444"/>
                          </a:solidFill>
                        </a:defRPr>
                      </a:pPr>
                      <a:r>
                        <a:t>15.04 ngày ⚠️</a:t>
                      </a:r>
                    </a:p>
                  </a:txBody>
                  <a:tcPr>
                    <a:solidFill>
                      <a:srgbClr val="FFFFFF"/>
                    </a:solidFill>
                  </a:tcPr>
                </a:tc>
                <a:tc>
                  <a:txBody>
                    <a:bodyPr/>
                    <a:lstStyle/>
                    <a:p>
                      <a:pPr>
                        <a:defRPr sz="850"/>
                      </a:pPr>
                      <a:r>
                        <a:t>0.62%</a:t>
                      </a:r>
                    </a:p>
                  </a:txBody>
                  <a:tcPr>
                    <a:solidFill>
                      <a:srgbClr val="FFFFFF"/>
                    </a:solidFill>
                  </a:tcPr>
                </a:tc>
              </a:tr>
              <a:tr h="537210">
                <a:tc>
                  <a:txBody>
                    <a:bodyPr/>
                    <a:lstStyle/>
                    <a:p>
                      <a:pPr>
                        <a:defRPr sz="850"/>
                      </a:pPr>
                      <a:r>
                        <a:t>PR (Paraná)</a:t>
                      </a:r>
                    </a:p>
                  </a:txBody>
                  <a:tcPr>
                    <a:solidFill>
                      <a:srgbClr val="F8FAFC"/>
                    </a:solidFill>
                  </a:tcPr>
                </a:tc>
                <a:tc>
                  <a:txBody>
                    <a:bodyPr/>
                    <a:lstStyle/>
                    <a:p>
                      <a:pPr>
                        <a:defRPr sz="850"/>
                      </a:pPr>
                      <a:r>
                        <a:t>4,523</a:t>
                      </a:r>
                    </a:p>
                  </a:txBody>
                  <a:tcPr>
                    <a:solidFill>
                      <a:srgbClr val="F8FAFC"/>
                    </a:solidFill>
                  </a:tcPr>
                </a:tc>
                <a:tc>
                  <a:txBody>
                    <a:bodyPr/>
                    <a:lstStyle/>
                    <a:p>
                      <a:pPr>
                        <a:defRPr sz="850"/>
                      </a:pPr>
                      <a:r>
                        <a:t>$1.61M</a:t>
                      </a:r>
                    </a:p>
                  </a:txBody>
                  <a:tcPr>
                    <a:solidFill>
                      <a:srgbClr val="F8FAFC"/>
                    </a:solidFill>
                  </a:tcPr>
                </a:tc>
                <a:tc>
                  <a:txBody>
                    <a:bodyPr/>
                    <a:lstStyle/>
                    <a:p>
                      <a:pPr>
                        <a:defRPr sz="850"/>
                      </a:pPr>
                      <a:r>
                        <a:t>5.28%</a:t>
                      </a:r>
                    </a:p>
                  </a:txBody>
                  <a:tcPr>
                    <a:solidFill>
                      <a:srgbClr val="F8FAFC"/>
                    </a:solidFill>
                  </a:tcPr>
                </a:tc>
                <a:tc>
                  <a:txBody>
                    <a:bodyPr/>
                    <a:lstStyle/>
                    <a:p>
                      <a:pPr>
                        <a:defRPr sz="850"/>
                      </a:pPr>
                      <a:r>
                        <a:t>12.06 ngày</a:t>
                      </a:r>
                    </a:p>
                  </a:txBody>
                  <a:tcPr>
                    <a:solidFill>
                      <a:srgbClr val="F8FAFC"/>
                    </a:solidFill>
                  </a:tcPr>
                </a:tc>
                <a:tc>
                  <a:txBody>
                    <a:bodyPr/>
                    <a:lstStyle/>
                    <a:p>
                      <a:pPr>
                        <a:defRPr sz="850"/>
                      </a:pPr>
                      <a:r>
                        <a:t>1.91%</a:t>
                      </a:r>
                    </a:p>
                  </a:txBody>
                  <a:tcPr>
                    <a:solidFill>
                      <a:srgbClr val="F8FAFC"/>
                    </a:solidFill>
                  </a:tcPr>
                </a:tc>
              </a:tr>
              <a:tr h="537210">
                <a:tc>
                  <a:txBody>
                    <a:bodyPr/>
                    <a:lstStyle/>
                    <a:p>
                      <a:pPr>
                        <a:defRPr sz="850"/>
                      </a:pPr>
                      <a:r>
                        <a:t>SC (Santa Catarina)</a:t>
                      </a:r>
                    </a:p>
                  </a:txBody>
                  <a:tcPr>
                    <a:solidFill>
                      <a:srgbClr val="FFFFFF"/>
                    </a:solidFill>
                  </a:tcPr>
                </a:tc>
                <a:tc>
                  <a:txBody>
                    <a:bodyPr/>
                    <a:lstStyle/>
                    <a:p>
                      <a:pPr>
                        <a:defRPr sz="850"/>
                      </a:pPr>
                      <a:r>
                        <a:t>3,213</a:t>
                      </a:r>
                    </a:p>
                  </a:txBody>
                  <a:tcPr>
                    <a:solidFill>
                      <a:srgbClr val="FFFFFF"/>
                    </a:solidFill>
                  </a:tcPr>
                </a:tc>
                <a:tc>
                  <a:txBody>
                    <a:bodyPr/>
                    <a:lstStyle/>
                    <a:p>
                      <a:pPr>
                        <a:defRPr sz="850"/>
                      </a:pPr>
                      <a:r>
                        <a:t>$1.07M</a:t>
                      </a:r>
                    </a:p>
                  </a:txBody>
                  <a:tcPr>
                    <a:solidFill>
                      <a:srgbClr val="FFFFFF"/>
                    </a:solidFill>
                  </a:tcPr>
                </a:tc>
                <a:tc>
                  <a:txBody>
                    <a:bodyPr/>
                    <a:lstStyle/>
                    <a:p>
                      <a:pPr>
                        <a:defRPr sz="850"/>
                      </a:pPr>
                      <a:r>
                        <a:t>3.50%</a:t>
                      </a:r>
                    </a:p>
                  </a:txBody>
                  <a:tcPr>
                    <a:solidFill>
                      <a:srgbClr val="FFFFFF"/>
                    </a:solidFill>
                  </a:tcPr>
                </a:tc>
                <a:tc>
                  <a:txBody>
                    <a:bodyPr/>
                    <a:lstStyle/>
                    <a:p>
                      <a:pPr>
                        <a:defRPr sz="850"/>
                      </a:pPr>
                      <a:r>
                        <a:t>14.97 ngày</a:t>
                      </a:r>
                    </a:p>
                  </a:txBody>
                  <a:tcPr>
                    <a:solidFill>
                      <a:srgbClr val="FFFFFF"/>
                    </a:solidFill>
                  </a:tcPr>
                </a:tc>
                <a:tc>
                  <a:txBody>
                    <a:bodyPr/>
                    <a:lstStyle/>
                    <a:p>
                      <a:pPr>
                        <a:defRPr sz="850"/>
                      </a:pPr>
                      <a:r>
                        <a:t>1.01%</a:t>
                      </a:r>
                    </a:p>
                  </a:txBody>
                  <a:tcPr>
                    <a:solidFill>
                      <a:srgbClr val="FFFFFF"/>
                    </a:solidFill>
                  </a:tcPr>
                </a:tc>
              </a:tr>
              <a:tr h="537210">
                <a:tc>
                  <a:txBody>
                    <a:bodyPr/>
                    <a:lstStyle/>
                    <a:p>
                      <a:pPr>
                        <a:defRPr sz="850"/>
                      </a:pPr>
                      <a:r>
                        <a:t>BA (Bahia)</a:t>
                      </a:r>
                    </a:p>
                  </a:txBody>
                  <a:tcPr>
                    <a:solidFill>
                      <a:srgbClr val="F8FAFC"/>
                    </a:solidFill>
                  </a:tcPr>
                </a:tc>
                <a:tc>
                  <a:txBody>
                    <a:bodyPr/>
                    <a:lstStyle/>
                    <a:p>
                      <a:pPr>
                        <a:defRPr sz="850"/>
                      </a:pPr>
                      <a:r>
                        <a:t>3,088</a:t>
                      </a:r>
                    </a:p>
                  </a:txBody>
                  <a:tcPr>
                    <a:solidFill>
                      <a:srgbClr val="F8FAFC"/>
                    </a:solidFill>
                  </a:tcPr>
                </a:tc>
                <a:tc>
                  <a:txBody>
                    <a:bodyPr/>
                    <a:lstStyle/>
                    <a:p>
                      <a:pPr>
                        <a:defRPr sz="850"/>
                      </a:pPr>
                      <a:r>
                        <a:t>$1.06M</a:t>
                      </a:r>
                    </a:p>
                  </a:txBody>
                  <a:tcPr>
                    <a:solidFill>
                      <a:srgbClr val="F8FAFC"/>
                    </a:solidFill>
                  </a:tcPr>
                </a:tc>
                <a:tc>
                  <a:txBody>
                    <a:bodyPr/>
                    <a:lstStyle/>
                    <a:p>
                      <a:pPr>
                        <a:defRPr sz="850"/>
                      </a:pPr>
                      <a:r>
                        <a:t>3.48%</a:t>
                      </a:r>
                    </a:p>
                  </a:txBody>
                  <a:tcPr>
                    <a:solidFill>
                      <a:srgbClr val="F8FAFC"/>
                    </a:solidFill>
                  </a:tcPr>
                </a:tc>
                <a:tc>
                  <a:txBody>
                    <a:bodyPr/>
                    <a:lstStyle/>
                    <a:p>
                      <a:pPr>
                        <a:defRPr sz="850" b="1">
                          <a:solidFill>
                            <a:srgbClr val="EF4444"/>
                          </a:solidFill>
                        </a:defRPr>
                      </a:pPr>
                      <a:r>
                        <a:t>19.33 ngày 🚨</a:t>
                      </a:r>
                    </a:p>
                  </a:txBody>
                  <a:tcPr>
                    <a:solidFill>
                      <a:srgbClr val="F8FAFC"/>
                    </a:solidFill>
                  </a:tcPr>
                </a:tc>
                <a:tc>
                  <a:txBody>
                    <a:bodyPr/>
                    <a:lstStyle/>
                    <a:p>
                      <a:pPr>
                        <a:defRPr sz="850" b="1">
                          <a:solidFill>
                            <a:srgbClr val="EF4444"/>
                          </a:solidFill>
                        </a:defRPr>
                      </a:pPr>
                      <a:r>
                        <a:t>0.30% 🚨</a:t>
                      </a:r>
                    </a:p>
                  </a:txBody>
                  <a:tcPr>
                    <a:solidFill>
                      <a:srgbClr val="F8FAFC"/>
                    </a:solidFill>
                  </a:tcPr>
                </a:tc>
              </a:tr>
            </a:tbl>
          </a:graphicData>
        </a:graphic>
      </p:graphicFrame>
      <p:sp>
        <p:nvSpPr>
          <p:cNvPr id="8" name="Rounded Rectangle 7"/>
          <p:cNvSpPr/>
          <p:nvPr/>
        </p:nvSpPr>
        <p:spPr>
          <a:xfrm>
            <a:off x="7772400" y="1234440"/>
            <a:ext cx="3687775"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79" y="1371600"/>
            <a:ext cx="3291840" cy="4754880"/>
          </a:xfrm>
          <a:prstGeom prst="rect">
            <a:avLst/>
          </a:prstGeom>
          <a:noFill/>
        </p:spPr>
        <p:txBody>
          <a:bodyPr wrap="square">
            <a:spAutoFit/>
          </a:bodyPr>
          <a:lstStyle/>
          <a:p>
            <a:pPr>
              <a:spcAft>
                <a:spcPts val="1000"/>
              </a:spcAft>
              <a:defRPr sz="1150" b="1">
                <a:solidFill>
                  <a:srgbClr val="1E3A8A"/>
                </a:solidFill>
              </a:defRPr>
            </a:pPr>
            <a:r>
              <a:t>⚠️ NGUYÊN NHÂN TẮC NGHẼN CHẶNG CUỐI</a:t>
            </a:r>
          </a:p>
          <a:p>
            <a:pPr>
              <a:defRPr sz="950" b="1">
                <a:solidFill>
                  <a:srgbClr val="0A192F"/>
                </a:solidFill>
              </a:defRPr>
            </a:pPr>
            <a:r>
              <a:t>• Tỷ Lệ Đúng Hạn Thấp (5.01%):</a:t>
            </a:r>
          </a:p>
          <a:p>
            <a:pPr>
              <a:spcAft>
                <a:spcPts val="600"/>
              </a:spcAft>
              <a:defRPr sz="880">
                <a:solidFill>
                  <a:srgbClr val="0F172A"/>
                </a:solidFill>
              </a:defRPr>
            </a:pPr>
            <a:r>
              <a:t>Tiêu chuẩn đề bài quy định giao nhanh &lt;= 3 ngày chỉ đạt 5.01%. Trên thực tế, thị trường Brazil rộng lớn đòi hỏi Lead Time chuẩn từ 7 - 14 ngày.</a:t>
            </a:r>
          </a:p>
          <a:p>
            <a:pPr>
              <a:defRPr sz="950" b="1">
                <a:solidFill>
                  <a:srgbClr val="EF4444"/>
                </a:solidFill>
              </a:defRPr>
            </a:pPr>
            <a:r>
              <a:t>• Điểm Đen Tắc Nghẽn Bahia (BA):</a:t>
            </a:r>
          </a:p>
          <a:p>
            <a:pPr>
              <a:spcAft>
                <a:spcPts val="600"/>
              </a:spcAft>
              <a:defRPr sz="880">
                <a:solidFill>
                  <a:srgbClr val="0F172A"/>
                </a:solidFill>
              </a:defRPr>
            </a:pPr>
            <a:r>
              <a:t>Thời gian giao hàng trung bình lên tới 19.33 ngày (gần 3 tuần), tỷ lệ đúng hạn chỉ 0.30%. Đây là nguồn phát sinh khiếu nại và hủy đơn lớn nhất.</a:t>
            </a:r>
          </a:p>
          <a:p>
            <a:pPr>
              <a:defRPr sz="950" b="1">
                <a:solidFill>
                  <a:srgbClr val="0A192F"/>
                </a:solidFill>
              </a:defRPr>
            </a:pPr>
            <a:r>
              <a:t>• Thách Thức Rio de Janeiro (RJ):</a:t>
            </a:r>
          </a:p>
          <a:p>
            <a:pPr>
              <a:spcAft>
                <a:spcPts val="600"/>
              </a:spcAft>
              <a:defRPr sz="880">
                <a:solidFill>
                  <a:srgbClr val="0F172A"/>
                </a:solidFill>
              </a:defRPr>
            </a:pPr>
            <a:r>
              <a:t>Thị trường lớn thứ 2 ($3.85M) nhưng thời gian giao lên đến 15.21 ngày do ùn tắc đô thị và khoảng cách kho vận trung tâm tại São Paulo.</a:t>
            </a:r>
          </a:p>
          <a:p>
            <a:pPr>
              <a:defRPr sz="950" b="1">
                <a:solidFill>
                  <a:srgbClr val="0A192F"/>
                </a:solidFill>
              </a:defRPr>
            </a:pPr>
            <a:r>
              <a:t>• Tác Động Khối Lượng Hàng Hóa:</a:t>
            </a:r>
          </a:p>
          <a:p>
            <a:pPr>
              <a:spcAft>
                <a:spcPts val="600"/>
              </a:spcAft>
              <a:defRPr sz="880">
                <a:solidFill>
                  <a:srgbClr val="0F172A"/>
                </a:solidFill>
              </a:defRPr>
            </a:pPr>
            <a:r>
              <a:t>Hàng nặng &gt; 5kg chịu thời gian giao 14.19 ngày và cước phí $46.61/đơn, cao hơn 18% so với hàng nhẹ.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777240"/>
          </a:xfrm>
          <a:prstGeom prst="rect">
            <a:avLst/>
          </a:prstGeom>
          <a:noFill/>
        </p:spPr>
        <p:txBody>
          <a:bodyPr wrap="square" lIns="0" tIns="0" rIns="0" bIns="0">
            <a:spAutoFit/>
          </a:bodyPr>
          <a:lstStyle/>
          <a:p>
            <a:pPr>
              <a:defRPr sz="950" b="1">
                <a:solidFill>
                  <a:srgbClr val="F59E0B"/>
                </a:solidFill>
              </a:defRPr>
            </a:pPr>
            <a:r>
              <a:t>PHẦN 7: AI FORECASTING &amp; ACTION CENTER</a:t>
            </a:r>
          </a:p>
          <a:p>
            <a:pPr>
              <a:defRPr sz="1700" b="1">
                <a:solidFill>
                  <a:srgbClr val="FFFFFF"/>
                </a:solidFill>
              </a:defRPr>
            </a:pPr>
            <a:r>
              <a:t>DỰ BÁO NHU CẦU Q4 &amp; BẢNG TÁC VỤ ĐIỀU HÀNH KHẨN CẤP</a:t>
            </a:r>
          </a:p>
        </p:txBody>
      </p:sp>
      <p:sp>
        <p:nvSpPr>
          <p:cNvPr id="5" name="Rounded Rectangle 4"/>
          <p:cNvSpPr/>
          <p:nvPr/>
        </p:nvSpPr>
        <p:spPr>
          <a:xfrm>
            <a:off x="731520" y="123444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4846320" cy="4754880"/>
          </a:xfrm>
          <a:prstGeom prst="rect">
            <a:avLst/>
          </a:prstGeom>
          <a:noFill/>
        </p:spPr>
        <p:txBody>
          <a:bodyPr wrap="square">
            <a:spAutoFit/>
          </a:bodyPr>
          <a:lstStyle/>
          <a:p>
            <a:pPr>
              <a:spcAft>
                <a:spcPts val="1000"/>
              </a:spcAft>
              <a:defRPr sz="1150" b="1">
                <a:solidFill>
                  <a:srgbClr val="1E3A8A"/>
                </a:solidFill>
              </a:defRPr>
            </a:pPr>
            <a:r>
              <a:t>📈 DỰ BÁO NHU CẦU 3 THÁNG TIẾP THEO (Q4/2018)</a:t>
            </a:r>
          </a:p>
          <a:p>
            <a:pPr>
              <a:spcAft>
                <a:spcPts val="800"/>
              </a:spcAft>
              <a:defRPr sz="950" b="1">
                <a:solidFill>
                  <a:srgbClr val="64748B"/>
                </a:solidFill>
              </a:defRPr>
            </a:pPr>
            <a:r>
              <a:t>Thuật toán Time-Series (Exponential Smoothing với Độ tin cậy 95%):</a:t>
            </a:r>
          </a:p>
          <a:p>
            <a:pPr>
              <a:defRPr sz="950" b="1">
                <a:solidFill>
                  <a:srgbClr val="0A192F"/>
                </a:solidFill>
              </a:defRPr>
            </a:pPr>
            <a:r>
              <a:t>• Tháng 10/2018 (Ổn định):</a:t>
            </a:r>
          </a:p>
          <a:p>
            <a:pPr>
              <a:spcAft>
                <a:spcPts val="600"/>
              </a:spcAft>
              <a:defRPr sz="880">
                <a:solidFill>
                  <a:srgbClr val="0F172A"/>
                </a:solidFill>
              </a:defRPr>
            </a:pPr>
            <a:r>
              <a:t>Doanh thu dự báo $1,620,000 (±8%) | Số lượng đơn ước tính: 4,600 đơn.</a:t>
            </a:r>
          </a:p>
          <a:p>
            <a:pPr>
              <a:defRPr sz="950" b="1">
                <a:solidFill>
                  <a:srgbClr val="10B981"/>
                </a:solidFill>
              </a:defRPr>
            </a:pPr>
            <a:r>
              <a:t>• Tháng 11/2018 (Đỉnh điểm Black Friday):</a:t>
            </a:r>
          </a:p>
          <a:p>
            <a:pPr>
              <a:spcAft>
                <a:spcPts val="600"/>
              </a:spcAft>
              <a:defRPr sz="880">
                <a:solidFill>
                  <a:srgbClr val="0F172A"/>
                </a:solidFill>
              </a:defRPr>
            </a:pPr>
            <a:r>
              <a:t>Doanh thu vọt lên $2,450,000 (±12%) | Số lượng đơn ước tính: 7,200 đơn (+51% so với bình quân). Đòi hỏi chuẩn bị năng lực kho vận cực đại.</a:t>
            </a:r>
          </a:p>
          <a:p>
            <a:pPr>
              <a:defRPr sz="950" b="1">
                <a:solidFill>
                  <a:srgbClr val="0A192F"/>
                </a:solidFill>
              </a:defRPr>
            </a:pPr>
            <a:r>
              <a:t>• Tháng 12/2018 (Mùa Lễ hội Giáng sinh):</a:t>
            </a:r>
          </a:p>
          <a:p>
            <a:pPr>
              <a:spcAft>
                <a:spcPts val="600"/>
              </a:spcAft>
              <a:defRPr sz="880">
                <a:solidFill>
                  <a:srgbClr val="0F172A"/>
                </a:solidFill>
              </a:defRPr>
            </a:pPr>
            <a:r>
              <a:t>Doanh thu duy trì ở mức cao $2,100,000 (±10%) | Số lượng đơn ước tính: 6,100 đơn.</a:t>
            </a:r>
          </a:p>
          <a:p>
            <a:pPr>
              <a:defRPr sz="950" b="1">
                <a:solidFill>
                  <a:srgbClr val="0A192F"/>
                </a:solidFill>
              </a:defRPr>
            </a:pPr>
            <a:r>
              <a:t>• Tổng Doanh Thu Q4/2018 Kỳ Vọng:</a:t>
            </a:r>
          </a:p>
          <a:p>
            <a:pPr>
              <a:spcAft>
                <a:spcPts val="600"/>
              </a:spcAft>
              <a:defRPr sz="880">
                <a:solidFill>
                  <a:srgbClr val="0F172A"/>
                </a:solidFill>
              </a:defRPr>
            </a:pPr>
            <a:r>
              <a:t>$6.17 Triệu USD với hơn 17,900 đơn hàng cần hoàn tất.</a:t>
            </a:r>
          </a:p>
        </p:txBody>
      </p:sp>
      <p:sp>
        <p:nvSpPr>
          <p:cNvPr id="7" name="Rounded Rectangle 6"/>
          <p:cNvSpPr/>
          <p:nvPr/>
        </p:nvSpPr>
        <p:spPr>
          <a:xfrm>
            <a:off x="6126480" y="1234440"/>
            <a:ext cx="5333695"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371600"/>
            <a:ext cx="4937760" cy="4754880"/>
          </a:xfrm>
          <a:prstGeom prst="rect">
            <a:avLst/>
          </a:prstGeom>
          <a:noFill/>
        </p:spPr>
        <p:txBody>
          <a:bodyPr wrap="square">
            <a:spAutoFit/>
          </a:bodyPr>
          <a:lstStyle/>
          <a:p>
            <a:pPr>
              <a:spcAft>
                <a:spcPts val="1000"/>
              </a:spcAft>
              <a:defRPr sz="1150" b="1">
                <a:solidFill>
                  <a:srgbClr val="1E3A8A"/>
                </a:solidFill>
              </a:defRPr>
            </a:pPr>
            <a:r>
              <a:t>🚨 DANH MỤC TÁC VỤ KHẨN CẤP CẦN XỬ LÝ (ACTION MATRIX)</a:t>
            </a:r>
          </a:p>
          <a:p>
            <a:pPr>
              <a:defRPr sz="950" b="1">
                <a:solidFill>
                  <a:srgbClr val="EF4444"/>
                </a:solidFill>
              </a:defRPr>
            </a:pPr>
            <a:r>
              <a:t>⚡ 1. Bồi Hoàn &amp; Xử Lý 404 Đơn Hàng Hủy (Canceled):</a:t>
            </a:r>
          </a:p>
          <a:p>
            <a:pPr>
              <a:spcAft>
                <a:spcPts val="600"/>
              </a:spcAft>
              <a:defRPr sz="880">
                <a:solidFill>
                  <a:srgbClr val="0F172A"/>
                </a:solidFill>
              </a:defRPr>
            </a:pPr>
            <a:r>
              <a:t>Phòng CSKH liên hệ trực tiếp trong 24h, hoàn tất thủ tục hoàn tiền để ngăn chặn đánh giá tiêu cực và bảo vệ danh tiếng thương hiệu.</a:t>
            </a:r>
          </a:p>
          <a:p>
            <a:pPr>
              <a:defRPr sz="950" b="1">
                <a:solidFill>
                  <a:srgbClr val="2563EB"/>
                </a:solidFill>
              </a:defRPr>
            </a:pPr>
            <a:r>
              <a:t>⚡ 2. Can Thiệp Các Đơn Giao Trễ Kéo Dài &gt; 20 Ngày:</a:t>
            </a:r>
          </a:p>
          <a:p>
            <a:pPr>
              <a:spcAft>
                <a:spcPts val="600"/>
              </a:spcAft>
              <a:defRPr sz="880">
                <a:solidFill>
                  <a:srgbClr val="0F172A"/>
                </a:solidFill>
              </a:defRPr>
            </a:pPr>
            <a:r>
              <a:t>Kích hoạt cảnh báo tới đối tác 3PLs chuyên tuyến tại Rio de Janeiro và Bahia; gửi tin nhắn xin lỗi kèm mã giảm giá 10% tri ân cho khách hàng.</a:t>
            </a:r>
          </a:p>
          <a:p>
            <a:pPr>
              <a:defRPr sz="950" b="1">
                <a:solidFill>
                  <a:srgbClr val="2563EB"/>
                </a:solidFill>
              </a:defRPr>
            </a:pPr>
            <a:r>
              <a:t>⚡ 3. Tái Cơ Cấu Cước Phí Cho 3 Ngành Hàng Rò Rỉ:</a:t>
            </a:r>
          </a:p>
          <a:p>
            <a:pPr>
              <a:spcAft>
                <a:spcPts val="600"/>
              </a:spcAft>
              <a:defRPr sz="880">
                <a:solidFill>
                  <a:srgbClr val="0F172A"/>
                </a:solidFill>
              </a:defRPr>
            </a:pPr>
            <a:r>
              <a:t>Thiết lập trần trợ giá vận chuyển hoặc điều kiện mua hàng tối thiểu $200 đối với `computers_accessories` (17.1%) và `health_beauty` (16.9%).</a:t>
            </a:r>
          </a:p>
          <a:p>
            <a:pPr>
              <a:defRPr sz="950" b="1">
                <a:solidFill>
                  <a:srgbClr val="2563EB"/>
                </a:solidFill>
              </a:defRPr>
            </a:pPr>
            <a:r>
              <a:t>⚡ 4. Kích Hoạt Chiến Dịch Win-Back Cho Khách Hàng VIP:</a:t>
            </a:r>
          </a:p>
          <a:p>
            <a:pPr>
              <a:spcAft>
                <a:spcPts val="600"/>
              </a:spcAft>
              <a:defRPr sz="880">
                <a:solidFill>
                  <a:srgbClr val="0F172A"/>
                </a:solidFill>
              </a:defRPr>
            </a:pPr>
            <a:r>
              <a:t>Phòng Marketing triển khai kịch bản Re-engagement riêng biệt cho 5,281 khách hàng chi tiêu lớn trước thềm Black Friday.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777240"/>
          </a:xfrm>
          <a:prstGeom prst="rect">
            <a:avLst/>
          </a:prstGeom>
          <a:noFill/>
        </p:spPr>
        <p:txBody>
          <a:bodyPr wrap="square" lIns="0" tIns="0" rIns="0" bIns="0">
            <a:spAutoFit/>
          </a:bodyPr>
          <a:lstStyle/>
          <a:p>
            <a:pPr>
              <a:defRPr sz="950" b="1">
                <a:solidFill>
                  <a:srgbClr val="F59E0B"/>
                </a:solidFill>
              </a:defRPr>
            </a:pPr>
            <a:r>
              <a:t>PHẦN 8: STRATEGIC RECOMMENDATIONS &amp; ROADMAP</a:t>
            </a:r>
          </a:p>
          <a:p>
            <a:pPr>
              <a:defRPr sz="1700" b="1">
                <a:solidFill>
                  <a:srgbClr val="FFFFFF"/>
                </a:solidFill>
              </a:defRPr>
            </a:pPr>
            <a:r>
              <a:t>ĐỀ XUẤT CHIẾN LƯỢC &amp; KẾ HOẠCH HÀNH ĐỘNG 30 - 60 - 90 NGÀY</a:t>
            </a:r>
          </a:p>
        </p:txBody>
      </p:sp>
      <p:sp>
        <p:nvSpPr>
          <p:cNvPr id="5" name="Rounded Rectangle 4"/>
          <p:cNvSpPr/>
          <p:nvPr/>
        </p:nvSpPr>
        <p:spPr>
          <a:xfrm>
            <a:off x="731520" y="1234440"/>
            <a:ext cx="347472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34440"/>
            <a:ext cx="3474720" cy="5029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GIAI ĐOẠN 30 NGÀY (CẤP BÁCH &amp; QUICK-WINS)</a:t>
            </a:r>
          </a:p>
        </p:txBody>
      </p:sp>
      <p:sp>
        <p:nvSpPr>
          <p:cNvPr id="7" name="TextBox 6"/>
          <p:cNvSpPr txBox="1"/>
          <p:nvPr/>
        </p:nvSpPr>
        <p:spPr>
          <a:xfrm>
            <a:off x="914400" y="1874519"/>
            <a:ext cx="3108960" cy="4297680"/>
          </a:xfrm>
          <a:prstGeom prst="rect">
            <a:avLst/>
          </a:prstGeom>
          <a:noFill/>
        </p:spPr>
        <p:txBody>
          <a:bodyPr wrap="square">
            <a:spAutoFit/>
          </a:bodyPr>
          <a:lstStyle/>
          <a:p>
            <a:pPr>
              <a:spcAft>
                <a:spcPts val="1200"/>
              </a:spcAft>
              <a:defRPr sz="919">
                <a:solidFill>
                  <a:srgbClr val="0F172A"/>
                </a:solidFill>
              </a:defRPr>
            </a:pPr>
            <a:r>
              <a:t>1. Công bố SLA Giao hàng thực tế trên Website/App: Minh bạch thời gian giao (SP: 7-9 ngày, RJ: 12-14 ngày, BA: 18-20 ngày) để triệt tiêu kỳ vọng sai lệch gây hủy đơn.</a:t>
            </a:r>
          </a:p>
          <a:p>
            <a:pPr>
              <a:spcAft>
                <a:spcPts val="1200"/>
              </a:spcAft>
              <a:defRPr sz="919">
                <a:solidFill>
                  <a:srgbClr val="0F172A"/>
                </a:solidFill>
              </a:defRPr>
            </a:pPr>
            <a:r>
              <a:t>2. Xử lý dứt điểm 404 đơn hủy: Hoàn tất bồi hoàn 100% trong vòng 15 ngày làm việc đầu tiên.</a:t>
            </a:r>
          </a:p>
          <a:p>
            <a:pPr>
              <a:spcAft>
                <a:spcPts val="1200"/>
              </a:spcAft>
              <a:defRPr sz="919">
                <a:solidFill>
                  <a:srgbClr val="0F172A"/>
                </a:solidFill>
              </a:defRPr>
            </a:pPr>
            <a:r>
              <a:t>3. Chiến dịch Win-Back cho Khách hàng VIP: Gửi ưu đãi cá nhân hóa tới 5,281 VIP (ngân sách dự kiến kích hoạt lại: $8.12M).</a:t>
            </a:r>
          </a:p>
        </p:txBody>
      </p:sp>
      <p:sp>
        <p:nvSpPr>
          <p:cNvPr id="8" name="Rounded Rectangle 7"/>
          <p:cNvSpPr/>
          <p:nvPr/>
        </p:nvSpPr>
        <p:spPr>
          <a:xfrm>
            <a:off x="4434840" y="1234440"/>
            <a:ext cx="347472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34840" y="1234440"/>
            <a:ext cx="3474720" cy="502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GIAI ĐOẠN 60 NGÀY (TỐI ƯU HÓA VẬN HÀNH &amp; CHI PHÍ)</a:t>
            </a:r>
          </a:p>
        </p:txBody>
      </p:sp>
      <p:sp>
        <p:nvSpPr>
          <p:cNvPr id="10" name="TextBox 9"/>
          <p:cNvSpPr txBox="1"/>
          <p:nvPr/>
        </p:nvSpPr>
        <p:spPr>
          <a:xfrm>
            <a:off x="4617720" y="1874519"/>
            <a:ext cx="3108960" cy="4297680"/>
          </a:xfrm>
          <a:prstGeom prst="rect">
            <a:avLst/>
          </a:prstGeom>
          <a:noFill/>
        </p:spPr>
        <p:txBody>
          <a:bodyPr wrap="square">
            <a:spAutoFit/>
          </a:bodyPr>
          <a:lstStyle/>
          <a:p>
            <a:pPr>
              <a:spcAft>
                <a:spcPts val="1200"/>
              </a:spcAft>
              <a:defRPr sz="919">
                <a:solidFill>
                  <a:srgbClr val="0F172A"/>
                </a:solidFill>
              </a:defRPr>
            </a:pPr>
            <a:r>
              <a:t>1. Áp dụng ngưỡng Freeship $200: Ngăn chặn rò rỉ $1.2M chi phí logistics hàng năm từ các ngành phụ kiện máy tính và mỹ phẩm.</a:t>
            </a:r>
          </a:p>
          <a:p>
            <a:pPr>
              <a:spcAft>
                <a:spcPts val="1200"/>
              </a:spcAft>
              <a:defRPr sz="919">
                <a:solidFill>
                  <a:srgbClr val="0F172A"/>
                </a:solidFill>
              </a:defRPr>
            </a:pPr>
            <a:r>
              <a:t>2. Tái đàm phán hợp đồng 3PLs: Đấu thầu lại đối tác vận chuyển chuyên tuyến riêng biệt cho Rio de Janeiro và Bahia.</a:t>
            </a:r>
          </a:p>
          <a:p>
            <a:pPr>
              <a:spcAft>
                <a:spcPts val="1200"/>
              </a:spcAft>
              <a:defRPr sz="919">
                <a:solidFill>
                  <a:srgbClr val="0F172A"/>
                </a:solidFill>
              </a:defRPr>
            </a:pPr>
            <a:r>
              <a:t>3. Xây dựng chương trình Khách hàng Thân thiết (Loyalty): Khuyến khích tích điểm đổi quà cho 14,341 khách hàng nhóm Loyal.</a:t>
            </a:r>
          </a:p>
        </p:txBody>
      </p:sp>
      <p:sp>
        <p:nvSpPr>
          <p:cNvPr id="11" name="Rounded Rectangle 10"/>
          <p:cNvSpPr/>
          <p:nvPr/>
        </p:nvSpPr>
        <p:spPr>
          <a:xfrm>
            <a:off x="8138160" y="1234440"/>
            <a:ext cx="347472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38160" y="1234440"/>
            <a:ext cx="347472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GIAI ĐOẠN 90 NGÀY (TÁI CẤU TRÚC CHUỖI CUNG ỨNG)</a:t>
            </a:r>
          </a:p>
        </p:txBody>
      </p:sp>
      <p:sp>
        <p:nvSpPr>
          <p:cNvPr id="13" name="TextBox 12"/>
          <p:cNvSpPr txBox="1"/>
          <p:nvPr/>
        </p:nvSpPr>
        <p:spPr>
          <a:xfrm>
            <a:off x="8321040" y="1874519"/>
            <a:ext cx="3108960" cy="4297680"/>
          </a:xfrm>
          <a:prstGeom prst="rect">
            <a:avLst/>
          </a:prstGeom>
          <a:noFill/>
        </p:spPr>
        <p:txBody>
          <a:bodyPr wrap="square">
            <a:spAutoFit/>
          </a:bodyPr>
          <a:lstStyle/>
          <a:p>
            <a:pPr>
              <a:spcAft>
                <a:spcPts val="1200"/>
              </a:spcAft>
              <a:defRPr sz="919">
                <a:solidFill>
                  <a:srgbClr val="0F172A"/>
                </a:solidFill>
              </a:defRPr>
            </a:pPr>
            <a:r>
              <a:t>1. Thành lập Satellite Hub tại Rio de Janeiro: Mở trung tâm kho vệ tinh phục vụ trực tiếp bang RJ và ES, cắt giảm Lead Time từ 15.2 ngày xuống dưới 6 ngày.</a:t>
            </a:r>
          </a:p>
          <a:p>
            <a:pPr>
              <a:spcAft>
                <a:spcPts val="1200"/>
              </a:spcAft>
              <a:defRPr sz="919">
                <a:solidFill>
                  <a:srgbClr val="0F172A"/>
                </a:solidFill>
              </a:defRPr>
            </a:pPr>
            <a:r>
              <a:t>2. Chuẩn hóa hạ tầng Power BI Real-Time: Đưa Dashboard 4 trang vào vận hành điều hành hàng tuần của Ban Giám đốc và khối Logistics.</a:t>
            </a:r>
          </a:p>
          <a:p>
            <a:pPr>
              <a:spcAft>
                <a:spcPts val="1200"/>
              </a:spcAft>
              <a:defRPr sz="919">
                <a:solidFill>
                  <a:srgbClr val="0F172A"/>
                </a:solidFill>
              </a:defRPr>
            </a:pPr>
            <a:r>
              <a:t>3. Mở rộng danh mục sinh lời cao: Đẩy mạnh các dòng sản phẩm có AOV lớn và cước thấp như Garden Tools và Home Decor.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728655" cy="777240"/>
          </a:xfrm>
          <a:prstGeom prst="rect">
            <a:avLst/>
          </a:prstGeom>
          <a:noFill/>
        </p:spPr>
        <p:txBody>
          <a:bodyPr wrap="square" lIns="0" tIns="0" rIns="0" bIns="0">
            <a:spAutoFit/>
          </a:bodyPr>
          <a:lstStyle/>
          <a:p>
            <a:pPr>
              <a:defRPr sz="950" b="1">
                <a:solidFill>
                  <a:srgbClr val="F59E0B"/>
                </a:solidFill>
              </a:defRPr>
            </a:pPr>
            <a:r>
              <a:t>KẾT LUẬN &amp; HỎI ĐÁP (Q&amp;A)</a:t>
            </a:r>
          </a:p>
          <a:p>
            <a:pPr>
              <a:defRPr sz="1700" b="1">
                <a:solidFill>
                  <a:srgbClr val="FFFFFF"/>
                </a:solidFill>
              </a:defRPr>
            </a:pPr>
            <a:r>
              <a:t>TỔNG KẾT KHÓA LUẬN &amp; TRẢI NGHIỆM DASHBOARD TRỰC TIẾP</a:t>
            </a:r>
          </a:p>
        </p:txBody>
      </p:sp>
      <p:sp>
        <p:nvSpPr>
          <p:cNvPr id="5" name="Rounded Rectangle 4"/>
          <p:cNvSpPr/>
          <p:nvPr/>
        </p:nvSpPr>
        <p:spPr>
          <a:xfrm>
            <a:off x="731520" y="1234440"/>
            <a:ext cx="521208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4846320" cy="4754880"/>
          </a:xfrm>
          <a:prstGeom prst="rect">
            <a:avLst/>
          </a:prstGeom>
          <a:noFill/>
        </p:spPr>
        <p:txBody>
          <a:bodyPr wrap="square">
            <a:spAutoFit/>
          </a:bodyPr>
          <a:lstStyle/>
          <a:p>
            <a:pPr>
              <a:spcAft>
                <a:spcPts val="1000"/>
              </a:spcAft>
              <a:defRPr sz="1150" b="1">
                <a:solidFill>
                  <a:srgbClr val="1E3A8A"/>
                </a:solidFill>
              </a:defRPr>
            </a:pPr>
            <a:r>
              <a:t>🏆 THÀNH QUẢ DỰ ÁN TỐT NGHIỆP ĐẠT ĐƯỢC</a:t>
            </a:r>
          </a:p>
          <a:p>
            <a:pPr>
              <a:defRPr sz="950" b="1">
                <a:solidFill>
                  <a:srgbClr val="10B981"/>
                </a:solidFill>
              </a:defRPr>
            </a:pPr>
            <a:r>
              <a:t>✔ Bộ Dữ Liệu Sạch Chuẩn Star Schema:</a:t>
            </a:r>
          </a:p>
          <a:p>
            <a:pPr>
              <a:spcAft>
                <a:spcPts val="600"/>
              </a:spcAft>
              <a:defRPr sz="880">
                <a:solidFill>
                  <a:srgbClr val="0F172A"/>
                </a:solidFill>
              </a:defRPr>
            </a:pPr>
            <a:r>
              <a:t>Khử trùng 61,865 dòng trong `df_Products`, hợp nhất 89,316 giao dịch thành `Fact_Orders` và 4 bảng `Dim` hoàn chỉnh.</a:t>
            </a:r>
          </a:p>
          <a:p>
            <a:pPr>
              <a:defRPr sz="950" b="1">
                <a:solidFill>
                  <a:srgbClr val="10B981"/>
                </a:solidFill>
              </a:defRPr>
            </a:pPr>
            <a:r>
              <a:t>✔ Thư Viện 27 Công Thức DAX Đầy Đủ:</a:t>
            </a:r>
          </a:p>
          <a:p>
            <a:pPr>
              <a:spcAft>
                <a:spcPts val="600"/>
              </a:spcAft>
              <a:defRPr sz="880">
                <a:solidFill>
                  <a:srgbClr val="0F172A"/>
                </a:solidFill>
              </a:defRPr>
            </a:pPr>
            <a:r>
              <a:t>Tuân thủ chuẩn 100% barem đề bài (Standard DAX) kết hợp mở rộng mô hình phân khúc chi tiêu cao (Enhanced Monetary Model).</a:t>
            </a:r>
          </a:p>
          <a:p>
            <a:pPr>
              <a:defRPr sz="950" b="1">
                <a:solidFill>
                  <a:srgbClr val="10B981"/>
                </a:solidFill>
              </a:defRPr>
            </a:pPr>
            <a:r>
              <a:t>✔ Báo Cáo Tốt Nghiệp Chuẩn Mực (Word &amp; MD):</a:t>
            </a:r>
          </a:p>
          <a:p>
            <a:pPr>
              <a:spcAft>
                <a:spcPts val="600"/>
              </a:spcAft>
              <a:defRPr sz="880">
                <a:solidFill>
                  <a:srgbClr val="0F172A"/>
                </a:solidFill>
              </a:defRPr>
            </a:pPr>
            <a:r>
              <a:t>Hoàn thiện tài liệu 9 phần chuyên sâu, bao quát 3 trụ cột chiến lược và kế hoạch hành động chi tiết.</a:t>
            </a:r>
          </a:p>
          <a:p>
            <a:pPr>
              <a:defRPr sz="950" b="1">
                <a:solidFill>
                  <a:srgbClr val="10B981"/>
                </a:solidFill>
              </a:defRPr>
            </a:pPr>
            <a:r>
              <a:t>✔ Hệ Thống Dashboard Tương Tác 4 Trang:</a:t>
            </a:r>
          </a:p>
          <a:p>
            <a:pPr>
              <a:spcAft>
                <a:spcPts val="600"/>
              </a:spcAft>
              <a:defRPr sz="880">
                <a:solidFill>
                  <a:srgbClr val="0F172A"/>
                </a:solidFill>
              </a:defRPr>
            </a:pPr>
            <a:r>
              <a:t>Mô phỏng đầy đủ chuẩn UI/UX Power BI, tích hợp các bộ lọc Slicers, AI Forecasting và Bảng tác vụ khẩn cấp xuất CSV.</a:t>
            </a:r>
          </a:p>
        </p:txBody>
      </p:sp>
      <p:sp>
        <p:nvSpPr>
          <p:cNvPr id="7" name="Rounded Rectangle 6"/>
          <p:cNvSpPr/>
          <p:nvPr/>
        </p:nvSpPr>
        <p:spPr>
          <a:xfrm>
            <a:off x="6126480" y="1234440"/>
            <a:ext cx="5333695" cy="5120640"/>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371600"/>
            <a:ext cx="4846320" cy="4754880"/>
          </a:xfrm>
          <a:prstGeom prst="rect">
            <a:avLst/>
          </a:prstGeom>
          <a:noFill/>
        </p:spPr>
        <p:txBody>
          <a:bodyPr wrap="square">
            <a:spAutoFit/>
          </a:bodyPr>
          <a:lstStyle/>
          <a:p>
            <a:pPr>
              <a:spcAft>
                <a:spcPts val="1200"/>
              </a:spcAft>
              <a:defRPr sz="1200" b="1">
                <a:solidFill>
                  <a:srgbClr val="F59E0B"/>
                </a:solidFill>
              </a:defRPr>
            </a:pPr>
            <a:r>
              <a:t>🌐 TRẢI NGHIỆM TRỰC TIẾP HỆ THỐNG</a:t>
            </a:r>
          </a:p>
          <a:p>
            <a:pPr>
              <a:defRPr sz="1000" b="1">
                <a:solidFill>
                  <a:srgbClr val="FFFFFF"/>
                </a:solidFill>
              </a:defRPr>
            </a:pPr>
            <a:r>
              <a:t>🔗 Live Dashboard (Đang chạy trực tuyến trên GitHub Pages):</a:t>
            </a:r>
          </a:p>
          <a:p>
            <a:pPr>
              <a:spcAft>
                <a:spcPts val="1200"/>
              </a:spcAft>
              <a:defRPr sz="1000" b="1">
                <a:solidFill>
                  <a:srgbClr val="10B981"/>
                </a:solidFill>
              </a:defRPr>
            </a:pPr>
            <a:r>
              <a:t>https://daothienvy.github.io/final-test-Data/</a:t>
            </a:r>
          </a:p>
          <a:p>
            <a:pPr>
              <a:defRPr sz="1000" b="1">
                <a:solidFill>
                  <a:srgbClr val="FFFFFF"/>
                </a:solidFill>
              </a:defRPr>
            </a:pPr>
            <a:r>
              <a:t>📂 Mã Nguồn &amp; Báo Cáo Trên GitHub Repository:</a:t>
            </a:r>
          </a:p>
          <a:p>
            <a:pPr>
              <a:spcAft>
                <a:spcPts val="2000"/>
              </a:spcAft>
              <a:defRPr sz="1000" b="1">
                <a:solidFill>
                  <a:srgbClr val="2563EB"/>
                </a:solidFill>
              </a:defRPr>
            </a:pPr>
            <a:r>
              <a:t>https://github.com/daothienvy/final-test-Data</a:t>
            </a:r>
          </a:p>
          <a:p>
            <a:pPr algn="ctr">
              <a:spcAft>
                <a:spcPts val="600"/>
              </a:spcAft>
              <a:defRPr sz="1300" b="1">
                <a:solidFill>
                  <a:srgbClr val="FFFFFF"/>
                </a:solidFill>
              </a:defRPr>
            </a:pPr>
            <a:r>
              <a:t>XIN CHÂN THÀNH CẢM ƠN HỘI ĐỒNG GIÁM KHẢO!</a:t>
            </a:r>
          </a:p>
          <a:p>
            <a:pPr algn="ctr">
              <a:defRPr sz="1050" b="1">
                <a:solidFill>
                  <a:srgbClr val="F59E0B"/>
                </a:solidFill>
              </a:defRPr>
            </a:pPr>
            <a:r>
              <a:t>— PHIÊN BÁO CÁO &amp; HỎI ĐÁP (Q&amp;A)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